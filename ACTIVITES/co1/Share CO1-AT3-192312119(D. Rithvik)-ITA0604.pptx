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tableStyles" Target="tableStyle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1" name=""/>
        <p:cNvGrpSpPr/>
        <p:nvPr/>
      </p:nvGrpSpPr>
      <p:grpSpPr>
        <a:xfrm>
          <a:off x="0" y="0"/>
          <a:ext cx="0" cy="0"/>
          <a:chOff x="0" y="0"/>
          <a:chExt cx="0" cy="0"/>
        </a:xfrm>
      </p:grpSpPr>
      <p:sp>
        <p:nvSpPr>
          <p:cNvPr id="1048765"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66"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767"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768"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9"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70"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6" name=""/>
        <p:cNvGrpSpPr/>
        <p:nvPr/>
      </p:nvGrpSpPr>
      <p:grpSpPr>
        <a:xfrm>
          <a:off x="0" y="0"/>
          <a:ext cx="0" cy="0"/>
          <a:chOff x="0" y="0"/>
          <a:chExt cx="0" cy="0"/>
        </a:xfrm>
      </p:grpSpPr>
      <p:sp>
        <p:nvSpPr>
          <p:cNvPr id="1048584" name="Slide Image Placeholder 1"/>
          <p:cNvSpPr>
            <a:spLocks noChangeAspect="1" noRot="1" noGrp="1"/>
          </p:cNvSpPr>
          <p:nvPr>
            <p:ph type="sldImg"/>
          </p:nvPr>
        </p:nvSpPr>
        <p:spPr/>
      </p:sp>
      <p:sp>
        <p:nvSpPr>
          <p:cNvPr id="1048585" name="Notes Placeholder 2"/>
          <p:cNvSpPr>
            <a:spLocks noGrp="1"/>
          </p:cNvSpPr>
          <p:nvPr>
            <p:ph type="body" idx="1"/>
          </p:nvPr>
        </p:nvSpPr>
        <p:spPr/>
        <p:txBody>
          <a:bodyPr/>
          <a:p>
            <a:r>
              <a:rPr dirty="0" lang="en-US"/>
              <a:t/>
            </a:r>
            <a:endParaRPr dirty="0" lang="en-US"/>
          </a:p>
        </p:txBody>
      </p:sp>
      <p:sp>
        <p:nvSpPr>
          <p:cNvPr id="1048586"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sp>
        <p:nvSpPr>
          <p:cNvPr id="1048609" name="Slide Image Placeholder 1"/>
          <p:cNvSpPr>
            <a:spLocks noChangeAspect="1" noRot="1" noGrp="1"/>
          </p:cNvSpPr>
          <p:nvPr>
            <p:ph type="sldImg"/>
          </p:nvPr>
        </p:nvSpPr>
        <p:spPr/>
      </p:sp>
      <p:sp>
        <p:nvSpPr>
          <p:cNvPr id="1048610" name="Notes Placeholder 2"/>
          <p:cNvSpPr>
            <a:spLocks noGrp="1"/>
          </p:cNvSpPr>
          <p:nvPr>
            <p:ph type="body" idx="1"/>
          </p:nvPr>
        </p:nvSpPr>
        <p:spPr/>
        <p:txBody>
          <a:bodyPr/>
          <a:p>
            <a:r>
              <a:rPr dirty="0" lang="en-US"/>
              <a:t/>
            </a:r>
            <a:endParaRPr dirty="0" lang="en-US"/>
          </a:p>
        </p:txBody>
      </p:sp>
      <p:sp>
        <p:nvSpPr>
          <p:cNvPr id="1048611"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30" name="Slide Image Placeholder 1"/>
          <p:cNvSpPr>
            <a:spLocks noChangeAspect="1" noRot="1" noGrp="1"/>
          </p:cNvSpPr>
          <p:nvPr>
            <p:ph type="sldImg"/>
          </p:nvPr>
        </p:nvSpPr>
        <p:spPr/>
      </p:sp>
      <p:sp>
        <p:nvSpPr>
          <p:cNvPr id="1048631" name="Notes Placeholder 2"/>
          <p:cNvSpPr>
            <a:spLocks noGrp="1"/>
          </p:cNvSpPr>
          <p:nvPr>
            <p:ph type="body" idx="1"/>
          </p:nvPr>
        </p:nvSpPr>
        <p:spPr/>
        <p:txBody>
          <a:bodyPr/>
          <a:p>
            <a:r>
              <a:rPr dirty="0" lang="en-US"/>
              <a:t/>
            </a:r>
            <a:endParaRPr dirty="0" lang="en-US"/>
          </a:p>
        </p:txBody>
      </p:sp>
      <p:sp>
        <p:nvSpPr>
          <p:cNvPr id="1048632"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648" name="Slide Image Placeholder 1"/>
          <p:cNvSpPr>
            <a:spLocks noChangeAspect="1" noRot="1" noGrp="1"/>
          </p:cNvSpPr>
          <p:nvPr>
            <p:ph type="sldImg"/>
          </p:nvPr>
        </p:nvSpPr>
        <p:spPr/>
      </p:sp>
      <p:sp>
        <p:nvSpPr>
          <p:cNvPr id="1048649" name="Notes Placeholder 2"/>
          <p:cNvSpPr>
            <a:spLocks noGrp="1"/>
          </p:cNvSpPr>
          <p:nvPr>
            <p:ph type="body" idx="1"/>
          </p:nvPr>
        </p:nvSpPr>
        <p:spPr/>
        <p:txBody>
          <a:bodyPr/>
          <a:p>
            <a:r>
              <a:rPr dirty="0" lang="en-US"/>
              <a:t/>
            </a:r>
            <a:endParaRPr dirty="0" lang="en-US"/>
          </a:p>
        </p:txBody>
      </p:sp>
      <p:sp>
        <p:nvSpPr>
          <p:cNvPr id="1048650"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67" name="Slide Image Placeholder 1"/>
          <p:cNvSpPr>
            <a:spLocks noChangeAspect="1" noRot="1" noGrp="1"/>
          </p:cNvSpPr>
          <p:nvPr>
            <p:ph type="sldImg"/>
          </p:nvPr>
        </p:nvSpPr>
        <p:spPr/>
      </p:sp>
      <p:sp>
        <p:nvSpPr>
          <p:cNvPr id="1048668" name="Notes Placeholder 2"/>
          <p:cNvSpPr>
            <a:spLocks noGrp="1"/>
          </p:cNvSpPr>
          <p:nvPr>
            <p:ph type="body" idx="1"/>
          </p:nvPr>
        </p:nvSpPr>
        <p:spPr/>
        <p:txBody>
          <a:bodyPr/>
          <a:p>
            <a:r>
              <a:rPr dirty="0" lang="en-US"/>
              <a:t/>
            </a:r>
            <a:endParaRPr dirty="0" lang="en-US"/>
          </a:p>
        </p:txBody>
      </p:sp>
      <p:sp>
        <p:nvSpPr>
          <p:cNvPr id="1048669"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90" name="Slide Image Placeholder 1"/>
          <p:cNvSpPr>
            <a:spLocks noChangeAspect="1" noRot="1" noGrp="1"/>
          </p:cNvSpPr>
          <p:nvPr>
            <p:ph type="sldImg"/>
          </p:nvPr>
        </p:nvSpPr>
        <p:spPr/>
      </p:sp>
      <p:sp>
        <p:nvSpPr>
          <p:cNvPr id="1048691" name="Notes Placeholder 2"/>
          <p:cNvSpPr>
            <a:spLocks noGrp="1"/>
          </p:cNvSpPr>
          <p:nvPr>
            <p:ph type="body" idx="1"/>
          </p:nvPr>
        </p:nvSpPr>
        <p:spPr/>
        <p:txBody>
          <a:bodyPr/>
          <a:p>
            <a:r>
              <a:rPr dirty="0" lang="en-US"/>
              <a:t/>
            </a:r>
            <a:endParaRPr dirty="0" lang="en-US"/>
          </a:p>
        </p:txBody>
      </p:sp>
      <p:sp>
        <p:nvSpPr>
          <p:cNvPr id="1048692"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720" name="Slide Image Placeholder 1"/>
          <p:cNvSpPr>
            <a:spLocks noChangeAspect="1" noRot="1" noGrp="1"/>
          </p:cNvSpPr>
          <p:nvPr>
            <p:ph type="sldImg"/>
          </p:nvPr>
        </p:nvSpPr>
        <p:spPr/>
      </p:sp>
      <p:sp>
        <p:nvSpPr>
          <p:cNvPr id="1048721" name="Notes Placeholder 2"/>
          <p:cNvSpPr>
            <a:spLocks noGrp="1"/>
          </p:cNvSpPr>
          <p:nvPr>
            <p:ph type="body" idx="1"/>
          </p:nvPr>
        </p:nvSpPr>
        <p:spPr/>
        <p:txBody>
          <a:bodyPr/>
          <a:p>
            <a:r>
              <a:rPr dirty="0" lang="en-US"/>
              <a:t/>
            </a:r>
            <a:endParaRPr dirty="0" lang="en-US"/>
          </a:p>
        </p:txBody>
      </p:sp>
      <p:sp>
        <p:nvSpPr>
          <p:cNvPr id="1048722"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744" name="Slide Image Placeholder 1"/>
          <p:cNvSpPr>
            <a:spLocks noChangeAspect="1" noRot="1" noGrp="1"/>
          </p:cNvSpPr>
          <p:nvPr>
            <p:ph type="sldImg"/>
          </p:nvPr>
        </p:nvSpPr>
        <p:spPr/>
      </p:sp>
      <p:sp>
        <p:nvSpPr>
          <p:cNvPr id="1048745" name="Notes Placeholder 2"/>
          <p:cNvSpPr>
            <a:spLocks noGrp="1"/>
          </p:cNvSpPr>
          <p:nvPr>
            <p:ph type="body" idx="1"/>
          </p:nvPr>
        </p:nvSpPr>
        <p:spPr/>
        <p:txBody>
          <a:bodyPr/>
          <a:p>
            <a:r>
              <a:rPr dirty="0" lang="en-US"/>
              <a:t/>
            </a:r>
            <a:endParaRPr dirty="0" lang="en-US"/>
          </a:p>
        </p:txBody>
      </p:sp>
      <p:sp>
        <p:nvSpPr>
          <p:cNvPr id="1048746"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762" name="Slide Image Placeholder 1"/>
          <p:cNvSpPr>
            <a:spLocks noChangeAspect="1" noRot="1" noGrp="1"/>
          </p:cNvSpPr>
          <p:nvPr>
            <p:ph type="sldImg"/>
          </p:nvPr>
        </p:nvSpPr>
        <p:spPr/>
      </p:sp>
      <p:sp>
        <p:nvSpPr>
          <p:cNvPr id="1048763" name="Notes Placeholder 2"/>
          <p:cNvSpPr>
            <a:spLocks noGrp="1"/>
          </p:cNvSpPr>
          <p:nvPr>
            <p:ph type="body" idx="1"/>
          </p:nvPr>
        </p:nvSpPr>
        <p:spPr/>
        <p:txBody>
          <a:bodyPr/>
          <a:p>
            <a:r>
              <a:rPr dirty="0" lang="en-US"/>
              <a:t/>
            </a:r>
            <a:endParaRPr dirty="0" lang="en-US"/>
          </a:p>
        </p:txBody>
      </p:sp>
      <p:sp>
        <p:nvSpPr>
          <p:cNvPr id="1048764"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3"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1"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4" name=""/>
        <p:cNvGrpSpPr/>
        <p:nvPr/>
      </p:nvGrpSpPr>
      <p:grpSpPr>
        <a:xfrm>
          <a:off x="0" y="0"/>
          <a:ext cx="0" cy="0"/>
          <a:chOff x="0" y="0"/>
          <a:chExt cx="0" cy="0"/>
        </a:xfrm>
      </p:grpSpPr>
      <p:sp>
        <p:nvSpPr>
          <p:cNvPr id="1048576" name="Shape 0"/>
          <p:cNvSpPr/>
          <p:nvPr/>
        </p:nvSpPr>
        <p:spPr>
          <a:xfrm>
            <a:off x="0" y="0"/>
            <a:ext cx="12188952" cy="6858000"/>
          </a:xfrm>
          <a:prstGeom prst="rect"/>
          <a:solidFill>
            <a:srgbClr val="1B2A4A"/>
          </a:solidFill>
        </p:spPr>
      </p:sp>
      <p:sp>
        <p:nvSpPr>
          <p:cNvPr id="1048577" name="Shape 1"/>
          <p:cNvSpPr/>
          <p:nvPr/>
        </p:nvSpPr>
        <p:spPr>
          <a:xfrm>
            <a:off x="8961120" y="-1371600"/>
            <a:ext cx="4572000" cy="4572000"/>
          </a:xfrm>
          <a:prstGeom prst="ellipse"/>
          <a:solidFill>
            <a:srgbClr val="24365E"/>
          </a:solidFill>
        </p:spPr>
      </p:sp>
      <p:sp>
        <p:nvSpPr>
          <p:cNvPr id="1048578" name="Shape 2"/>
          <p:cNvSpPr/>
          <p:nvPr/>
        </p:nvSpPr>
        <p:spPr>
          <a:xfrm>
            <a:off x="-1371600" y="4846320"/>
            <a:ext cx="3657600" cy="3657600"/>
          </a:xfrm>
          <a:prstGeom prst="ellipse"/>
          <a:solidFill>
            <a:srgbClr val="24365E"/>
          </a:solidFill>
        </p:spPr>
      </p:sp>
      <p:sp>
        <p:nvSpPr>
          <p:cNvPr id="1048579" name="Text 3"/>
          <p:cNvSpPr/>
          <p:nvPr/>
        </p:nvSpPr>
        <p:spPr>
          <a:xfrm>
            <a:off x="731520" y="1554480"/>
            <a:ext cx="7315200" cy="457200"/>
          </a:xfrm>
          <a:prstGeom prst="rect"/>
          <a:noFill/>
        </p:spPr>
        <p:txBody>
          <a:bodyPr anchor="ctr" rtlCol="0" wrap="square"/>
          <a:p>
            <a:pPr indent="0" marL="0">
              <a:buNone/>
            </a:pPr>
            <a:r>
              <a:rPr b="1" dirty="0" sz="1600" kern="0" lang="en-US" spc="300">
                <a:solidFill>
                  <a:srgbClr val="9FB3D9"/>
                </a:solidFill>
                <a:latin typeface="Calibri" pitchFamily="34" charset="0"/>
                <a:ea typeface="Calibri" pitchFamily="34" charset="-122"/>
                <a:cs typeface="Calibri" pitchFamily="34" charset="-120"/>
              </a:rPr>
              <a:t>CO1-AT3</a:t>
            </a:r>
            <a:endParaRPr dirty="0" sz="1600" lang="en-US"/>
          </a:p>
        </p:txBody>
      </p:sp>
      <p:sp>
        <p:nvSpPr>
          <p:cNvPr id="1048580" name="Text 4"/>
          <p:cNvSpPr/>
          <p:nvPr/>
        </p:nvSpPr>
        <p:spPr>
          <a:xfrm>
            <a:off x="731520" y="1965960"/>
            <a:ext cx="9144000" cy="1005840"/>
          </a:xfrm>
          <a:prstGeom prst="rect"/>
          <a:noFill/>
        </p:spPr>
        <p:txBody>
          <a:bodyPr anchor="ctr" rtlCol="0" wrap="square"/>
          <a:p>
            <a:pPr indent="0" marL="0">
              <a:buNone/>
            </a:pPr>
            <a:r>
              <a:rPr b="1" dirty="0" sz="4000" lang="en-US">
                <a:solidFill>
                  <a:srgbClr val="FFFFFF"/>
                </a:solidFill>
                <a:latin typeface="Calibri" pitchFamily="34" charset="0"/>
                <a:ea typeface="Calibri" pitchFamily="34" charset="-122"/>
                <a:cs typeface="Calibri" pitchFamily="34" charset="-120"/>
              </a:rPr>
              <a:t>Machine Learning — CO1</a:t>
            </a:r>
            <a:endParaRPr dirty="0" sz="4000" lang="en-US"/>
          </a:p>
        </p:txBody>
      </p:sp>
      <p:sp>
        <p:nvSpPr>
          <p:cNvPr id="1048581" name="Text 5"/>
          <p:cNvSpPr/>
          <p:nvPr/>
        </p:nvSpPr>
        <p:spPr>
          <a:xfrm>
            <a:off x="731520" y="2880360"/>
            <a:ext cx="9601200" cy="457200"/>
          </a:xfrm>
          <a:prstGeom prst="rect"/>
          <a:noFill/>
        </p:spPr>
        <p:txBody>
          <a:bodyPr anchor="ctr" rtlCol="0" wrap="square"/>
          <a:p>
            <a:pPr indent="0" marL="0">
              <a:buNone/>
            </a:pPr>
            <a:r>
              <a:rPr dirty="0" sz="1800" lang="en-US">
                <a:solidFill>
                  <a:srgbClr val="C7D4EA"/>
                </a:solidFill>
                <a:latin typeface="Calibri" pitchFamily="34" charset="0"/>
                <a:ea typeface="Calibri" pitchFamily="34" charset="-122"/>
                <a:cs typeface="Calibri" pitchFamily="34" charset="-120"/>
              </a:rPr>
              <a:t>Concept Learning · Version Spaces · Inductive Bias · Decision Trees</a:t>
            </a:r>
            <a:endParaRPr dirty="0" sz="1800" lang="en-US"/>
          </a:p>
        </p:txBody>
      </p:sp>
      <p:sp>
        <p:nvSpPr>
          <p:cNvPr id="1048582" name="Shape 6"/>
          <p:cNvSpPr/>
          <p:nvPr/>
        </p:nvSpPr>
        <p:spPr>
          <a:xfrm>
            <a:off x="731520" y="3749040"/>
            <a:ext cx="2926080" cy="0"/>
          </a:xfrm>
          <a:prstGeom prst="line"/>
          <a:noFill/>
          <a:ln w="19050">
            <a:solidFill>
              <a:srgbClr val="4A6491"/>
            </a:solidFill>
            <a:prstDash val="solid"/>
          </a:ln>
        </p:spPr>
      </p:sp>
      <p:sp>
        <p:nvSpPr>
          <p:cNvPr id="1048583" name="Text 7"/>
          <p:cNvSpPr/>
          <p:nvPr/>
        </p:nvSpPr>
        <p:spPr>
          <a:xfrm>
            <a:off x="731520" y="3977640"/>
            <a:ext cx="8229600" cy="1737360"/>
          </a:xfrm>
          <a:prstGeom prst="rect"/>
          <a:noFill/>
        </p:spPr>
        <p:txBody>
          <a:bodyPr anchor="ctr" rtlCol="0" wrap="square"/>
          <a:p>
            <a:pPr indent="0" marL="0">
              <a:lnSpc>
                <a:spcPct val="140000"/>
              </a:lnSpc>
              <a:buNone/>
            </a:pPr>
            <a:r>
              <a:rPr b="1" dirty="0" sz="1500" lang="en-US">
                <a:solidFill>
                  <a:srgbClr val="9FB3D9"/>
                </a:solidFill>
                <a:latin typeface="Calibri" pitchFamily="34" charset="0"/>
                <a:ea typeface="Calibri" pitchFamily="34" charset="-122"/>
                <a:cs typeface="Calibri" pitchFamily="34" charset="-120"/>
              </a:rPr>
              <a:t>Name: </a:t>
            </a:r>
            <a:r>
              <a:rPr altLang="en-GB" b="1" dirty="0" sz="1500" lang="en-US">
                <a:solidFill>
                  <a:srgbClr val="FFFFFF"/>
                </a:solidFill>
                <a:latin typeface="Calibri" pitchFamily="34" charset="0"/>
                <a:ea typeface="Calibri" pitchFamily="34" charset="-122"/>
                <a:cs typeface="Calibri" pitchFamily="34" charset="-120"/>
              </a:rPr>
              <a:t>D</a:t>
            </a:r>
            <a:r>
              <a:rPr altLang="en-GB" b="1" dirty="0" sz="1500" lang="en-US">
                <a:solidFill>
                  <a:srgbClr val="FFFFFF"/>
                </a:solidFill>
                <a:latin typeface="Calibri" pitchFamily="34" charset="0"/>
                <a:ea typeface="Calibri" pitchFamily="34" charset="-122"/>
                <a:cs typeface="Calibri" pitchFamily="34" charset="-120"/>
              </a:rPr>
              <a:t>.</a:t>
            </a:r>
            <a:r>
              <a:rPr altLang="en-GB" b="1" dirty="0" sz="1500" lang="en-US">
                <a:solidFill>
                  <a:srgbClr val="FFFFFF"/>
                </a:solidFill>
                <a:latin typeface="Calibri" pitchFamily="34" charset="0"/>
                <a:ea typeface="Calibri" pitchFamily="34" charset="-122"/>
                <a:cs typeface="Calibri" pitchFamily="34" charset="-120"/>
              </a:rPr>
              <a:t> </a:t>
            </a:r>
            <a:r>
              <a:rPr altLang="en-GB" b="1" dirty="0" sz="1500" lang="en-US">
                <a:solidFill>
                  <a:srgbClr val="FFFFFF"/>
                </a:solidFill>
                <a:latin typeface="Calibri" pitchFamily="34" charset="0"/>
                <a:ea typeface="Calibri" pitchFamily="34" charset="-122"/>
                <a:cs typeface="Calibri" pitchFamily="34" charset="-120"/>
              </a:rPr>
              <a:t>R</a:t>
            </a:r>
            <a:r>
              <a:rPr altLang="en-GB" b="1" dirty="0" sz="1500" lang="en-US">
                <a:solidFill>
                  <a:srgbClr val="FFFFFF"/>
                </a:solidFill>
                <a:latin typeface="Calibri" pitchFamily="34" charset="0"/>
                <a:ea typeface="Calibri" pitchFamily="34" charset="-122"/>
                <a:cs typeface="Calibri" pitchFamily="34" charset="-120"/>
              </a:rPr>
              <a:t>i</a:t>
            </a:r>
            <a:r>
              <a:rPr altLang="en-GB" b="1" dirty="0" sz="1500" lang="en-US">
                <a:solidFill>
                  <a:srgbClr val="FFFFFF"/>
                </a:solidFill>
                <a:latin typeface="Calibri" pitchFamily="34" charset="0"/>
                <a:ea typeface="Calibri" pitchFamily="34" charset="-122"/>
                <a:cs typeface="Calibri" pitchFamily="34" charset="-120"/>
              </a:rPr>
              <a:t>t</a:t>
            </a:r>
            <a:r>
              <a:rPr altLang="en-GB" b="1" dirty="0" sz="1500" lang="en-US">
                <a:solidFill>
                  <a:srgbClr val="FFFFFF"/>
                </a:solidFill>
                <a:latin typeface="Calibri" pitchFamily="34" charset="0"/>
                <a:ea typeface="Calibri" pitchFamily="34" charset="-122"/>
                <a:cs typeface="Calibri" pitchFamily="34" charset="-120"/>
              </a:rPr>
              <a:t>h</a:t>
            </a:r>
            <a:r>
              <a:rPr altLang="en-GB" b="1" dirty="0" sz="1500" lang="en-US">
                <a:solidFill>
                  <a:srgbClr val="FFFFFF"/>
                </a:solidFill>
                <a:latin typeface="Calibri" pitchFamily="34" charset="0"/>
                <a:ea typeface="Calibri" pitchFamily="34" charset="-122"/>
                <a:cs typeface="Calibri" pitchFamily="34" charset="-120"/>
              </a:rPr>
              <a:t>vik </a:t>
            </a:r>
            <a:r>
              <a:rPr dirty="0" sz="1500" lang="en-US">
                <a:solidFill>
                  <a:srgbClr val="FFFFFF"/>
                </a:solidFill>
                <a:latin typeface="Calibri" pitchFamily="34" charset="0"/>
                <a:ea typeface="Calibri" pitchFamily="34" charset="-122"/>
                <a:cs typeface="Calibri" pitchFamily="34" charset="-120"/>
              </a:rPr>
              <a:t>
</a:t>
            </a:r>
            <a:r>
              <a:rPr b="1" dirty="0" sz="1500" lang="en-US">
                <a:solidFill>
                  <a:srgbClr val="9FB3D9"/>
                </a:solidFill>
                <a:latin typeface="Calibri" pitchFamily="34" charset="0"/>
                <a:ea typeface="Calibri" pitchFamily="34" charset="-122"/>
                <a:cs typeface="Calibri" pitchFamily="34" charset="-120"/>
              </a:rPr>
              <a:t>Reg No: </a:t>
            </a:r>
            <a:r>
              <a:rPr dirty="0" sz="1500" lang="en-US">
                <a:solidFill>
                  <a:srgbClr val="FFFFFF"/>
                </a:solidFill>
                <a:latin typeface="Calibri" pitchFamily="34" charset="0"/>
                <a:ea typeface="Calibri" pitchFamily="34" charset="-122"/>
                <a:cs typeface="Calibri" pitchFamily="34" charset="-120"/>
              </a:rPr>
              <a:t>192312</a:t>
            </a:r>
            <a:r>
              <a:rPr altLang="en-GB" dirty="0" sz="1500" lang="en-US">
                <a:solidFill>
                  <a:srgbClr val="FFFFFF"/>
                </a:solidFill>
                <a:latin typeface="Calibri" pitchFamily="34" charset="0"/>
                <a:ea typeface="Calibri" pitchFamily="34" charset="-122"/>
                <a:cs typeface="Calibri" pitchFamily="34" charset="-120"/>
              </a:rPr>
              <a:t>1</a:t>
            </a:r>
            <a:r>
              <a:rPr altLang="en-GB" dirty="0" sz="1500" lang="en-US">
                <a:solidFill>
                  <a:srgbClr val="FFFFFF"/>
                </a:solidFill>
                <a:latin typeface="Calibri" pitchFamily="34" charset="0"/>
                <a:ea typeface="Calibri" pitchFamily="34" charset="-122"/>
                <a:cs typeface="Calibri" pitchFamily="34" charset="-120"/>
              </a:rPr>
              <a:t>1</a:t>
            </a:r>
            <a:r>
              <a:rPr altLang="en-GB" dirty="0" sz="1500" lang="en-US">
                <a:solidFill>
                  <a:srgbClr val="FFFFFF"/>
                </a:solidFill>
                <a:latin typeface="Calibri" pitchFamily="34" charset="0"/>
                <a:ea typeface="Calibri" pitchFamily="34" charset="-122"/>
                <a:cs typeface="Calibri" pitchFamily="34" charset="-120"/>
              </a:rPr>
              <a:t>9</a:t>
            </a:r>
            <a:r>
              <a:rPr dirty="0" sz="1500" lang="en-US">
                <a:solidFill>
                  <a:srgbClr val="FFFFFF"/>
                </a:solidFill>
                <a:latin typeface="Calibri" pitchFamily="34" charset="0"/>
                <a:ea typeface="Calibri" pitchFamily="34" charset="-122"/>
                <a:cs typeface="Calibri" pitchFamily="34" charset="-120"/>
              </a:rPr>
              <a:t>
</a:t>
            </a:r>
            <a:r>
              <a:rPr b="1" dirty="0" sz="1500" lang="en-US">
                <a:solidFill>
                  <a:srgbClr val="9FB3D9"/>
                </a:solidFill>
                <a:latin typeface="Calibri" pitchFamily="34" charset="0"/>
                <a:ea typeface="Calibri" pitchFamily="34" charset="-122"/>
                <a:cs typeface="Calibri" pitchFamily="34" charset="-120"/>
              </a:rPr>
              <a:t>Course Code: </a:t>
            </a:r>
            <a:r>
              <a:rPr dirty="0" sz="1500" lang="en-US">
                <a:solidFill>
                  <a:srgbClr val="FFFFFF"/>
                </a:solidFill>
                <a:latin typeface="Calibri" pitchFamily="34" charset="0"/>
                <a:ea typeface="Calibri" pitchFamily="34" charset="-122"/>
                <a:cs typeface="Calibri" pitchFamily="34" charset="-120"/>
              </a:rPr>
              <a:t>ITA 06
</a:t>
            </a:r>
            <a:r>
              <a:rPr b="1" dirty="0" sz="1500" lang="en-US">
                <a:solidFill>
                  <a:srgbClr val="9FB3D9"/>
                </a:solidFill>
                <a:latin typeface="Calibri" pitchFamily="34" charset="0"/>
                <a:ea typeface="Calibri" pitchFamily="34" charset="-122"/>
                <a:cs typeface="Calibri" pitchFamily="34" charset="-120"/>
              </a:rPr>
              <a:t>Questions Answered: </a:t>
            </a:r>
            <a:r>
              <a:rPr dirty="0" sz="1500" lang="en-US">
                <a:solidFill>
                  <a:srgbClr val="FFFFFF"/>
                </a:solidFill>
                <a:latin typeface="Calibri" pitchFamily="34" charset="0"/>
                <a:ea typeface="Calibri" pitchFamily="34" charset="-122"/>
                <a:cs typeface="Calibri" pitchFamily="34" charset="-120"/>
              </a:rPr>
              <a:t>Q7, Q8, Q9
</a:t>
            </a:r>
            <a:r>
              <a:rPr b="1" dirty="0" sz="1500" lang="en-US">
                <a:solidFill>
                  <a:srgbClr val="9FB3D9"/>
                </a:solidFill>
                <a:latin typeface="Calibri" pitchFamily="34" charset="0"/>
                <a:ea typeface="Calibri" pitchFamily="34" charset="-122"/>
                <a:cs typeface="Calibri" pitchFamily="34" charset="-120"/>
              </a:rPr>
              <a:t>Marks: </a:t>
            </a:r>
            <a:r>
              <a:rPr dirty="0" sz="1500" lang="en-US">
                <a:solidFill>
                  <a:srgbClr val="FFFFFF"/>
                </a:solidFill>
                <a:latin typeface="Calibri" pitchFamily="34" charset="0"/>
                <a:ea typeface="Calibri" pitchFamily="34" charset="-122"/>
                <a:cs typeface="Calibri" pitchFamily="34" charset="-120"/>
              </a:rPr>
              <a:t>5 each  |  15 Total</a:t>
            </a:r>
            <a:endParaRPr dirty="0" sz="15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7" name=""/>
        <p:cNvGrpSpPr/>
        <p:nvPr/>
      </p:nvGrpSpPr>
      <p:grpSpPr>
        <a:xfrm>
          <a:off x="0" y="0"/>
          <a:ext cx="0" cy="0"/>
          <a:chOff x="0" y="0"/>
          <a:chExt cx="0" cy="0"/>
        </a:xfrm>
      </p:grpSpPr>
      <p:sp>
        <p:nvSpPr>
          <p:cNvPr id="1048587" name="Text 0"/>
          <p:cNvSpPr/>
          <p:nvPr/>
        </p:nvSpPr>
        <p:spPr>
          <a:xfrm>
            <a:off x="548640" y="411480"/>
            <a:ext cx="9144000" cy="548640"/>
          </a:xfrm>
          <a:prstGeom prst="rect"/>
          <a:noFill/>
        </p:spPr>
        <p:txBody>
          <a:bodyPr anchor="ctr" rtlCol="0" wrap="square"/>
          <a:p>
            <a:pPr indent="0" marL="0">
              <a:buNone/>
            </a:pPr>
            <a:r>
              <a:rPr b="1" dirty="0" sz="3000" lang="en-US">
                <a:solidFill>
                  <a:srgbClr val="1B2A4A"/>
                </a:solidFill>
                <a:latin typeface="Calibri" pitchFamily="34" charset="0"/>
                <a:ea typeface="Calibri" pitchFamily="34" charset="-122"/>
                <a:cs typeface="Calibri" pitchFamily="34" charset="-120"/>
              </a:rPr>
              <a:t>What We're Covering</a:t>
            </a:r>
            <a:endParaRPr dirty="0" sz="3000" lang="en-US"/>
          </a:p>
        </p:txBody>
      </p:sp>
      <p:sp>
        <p:nvSpPr>
          <p:cNvPr id="1048588" name="Text 1"/>
          <p:cNvSpPr/>
          <p:nvPr/>
        </p:nvSpPr>
        <p:spPr>
          <a:xfrm>
            <a:off x="548640" y="960120"/>
            <a:ext cx="10058400" cy="365760"/>
          </a:xfrm>
          <a:prstGeom prst="rect"/>
          <a:noFill/>
        </p:spPr>
        <p:txBody>
          <a:bodyPr anchor="ctr" rtlCol="0" wrap="square"/>
          <a:p>
            <a:pPr indent="0" marL="0">
              <a:buNone/>
            </a:pPr>
            <a:r>
              <a:rPr dirty="0" sz="1400" lang="en-US">
                <a:solidFill>
                  <a:srgbClr val="555555"/>
                </a:solidFill>
                <a:latin typeface="Calibri" pitchFamily="34" charset="0"/>
                <a:ea typeface="Calibri" pitchFamily="34" charset="-122"/>
                <a:cs typeface="Calibri" pitchFamily="34" charset="-120"/>
              </a:rPr>
              <a:t>Three CO1 topics, each with definitions, mechanisms, and worked formulas</a:t>
            </a:r>
            <a:endParaRPr dirty="0" sz="1400" lang="en-US"/>
          </a:p>
        </p:txBody>
      </p:sp>
      <p:sp>
        <p:nvSpPr>
          <p:cNvPr id="1048589" name="Shape 2"/>
          <p:cNvSpPr/>
          <p:nvPr/>
        </p:nvSpPr>
        <p:spPr>
          <a:xfrm>
            <a:off x="548640" y="1691640"/>
            <a:ext cx="3520440" cy="4297680"/>
          </a:xfrm>
          <a:prstGeom prst="roundRect">
            <a:avLst>
              <a:gd name="adj" fmla="val 2597"/>
            </a:avLst>
          </a:prstGeom>
          <a:solidFill>
            <a:srgbClr val="F4F6F8"/>
          </a:solidFill>
        </p:spPr>
      </p:sp>
      <p:sp>
        <p:nvSpPr>
          <p:cNvPr id="1048590" name="Shape 3"/>
          <p:cNvSpPr/>
          <p:nvPr/>
        </p:nvSpPr>
        <p:spPr>
          <a:xfrm>
            <a:off x="548640" y="1691640"/>
            <a:ext cx="3520440" cy="822960"/>
          </a:xfrm>
          <a:prstGeom prst="roundRect">
            <a:avLst>
              <a:gd name="adj" fmla="val 11111"/>
            </a:avLst>
          </a:prstGeom>
          <a:solidFill>
            <a:srgbClr val="0F766E"/>
          </a:solidFill>
        </p:spPr>
      </p:sp>
      <p:sp>
        <p:nvSpPr>
          <p:cNvPr id="1048591" name="Shape 4"/>
          <p:cNvSpPr/>
          <p:nvPr/>
        </p:nvSpPr>
        <p:spPr>
          <a:xfrm>
            <a:off x="548640" y="2240280"/>
            <a:ext cx="3520440" cy="274320"/>
          </a:xfrm>
          <a:prstGeom prst="rect"/>
          <a:solidFill>
            <a:srgbClr val="0F766E"/>
          </a:solidFill>
        </p:spPr>
      </p:sp>
      <p:sp>
        <p:nvSpPr>
          <p:cNvPr id="1048592" name="Text 5"/>
          <p:cNvSpPr/>
          <p:nvPr/>
        </p:nvSpPr>
        <p:spPr>
          <a:xfrm>
            <a:off x="777240" y="1783080"/>
            <a:ext cx="1828800" cy="640080"/>
          </a:xfrm>
          <a:prstGeom prst="rect"/>
          <a:noFill/>
        </p:spPr>
        <p:txBody>
          <a:bodyPr anchor="ctr" rtlCol="0" wrap="square"/>
          <a:p>
            <a:pPr indent="0" marL="0">
              <a:buNone/>
            </a:pPr>
            <a:r>
              <a:rPr b="1" dirty="0" sz="2200" lang="en-US">
                <a:solidFill>
                  <a:srgbClr val="FFFFFF"/>
                </a:solidFill>
                <a:latin typeface="Calibri" pitchFamily="34" charset="0"/>
                <a:ea typeface="Calibri" pitchFamily="34" charset="-122"/>
                <a:cs typeface="Calibri" pitchFamily="34" charset="-120"/>
              </a:rPr>
              <a:t>Q7</a:t>
            </a:r>
            <a:endParaRPr dirty="0" sz="2200" lang="en-US"/>
          </a:p>
        </p:txBody>
      </p:sp>
      <p:sp>
        <p:nvSpPr>
          <p:cNvPr id="1048593" name="Text 6"/>
          <p:cNvSpPr/>
          <p:nvPr/>
        </p:nvSpPr>
        <p:spPr>
          <a:xfrm>
            <a:off x="777240" y="2697480"/>
            <a:ext cx="3063240" cy="914400"/>
          </a:xfrm>
          <a:prstGeom prst="rect"/>
          <a:noFill/>
        </p:spPr>
        <p:txBody>
          <a:bodyPr anchor="ctr" rtlCol="0" wrap="square"/>
          <a:p>
            <a:pPr indent="0" marL="0">
              <a:lnSpc>
                <a:spcPct val="110000"/>
              </a:lnSpc>
              <a:buNone/>
            </a:pPr>
            <a:r>
              <a:rPr b="1" dirty="0" sz="1700" lang="en-US">
                <a:solidFill>
                  <a:srgbClr val="1A1A1A"/>
                </a:solidFill>
                <a:latin typeface="Calibri" pitchFamily="34" charset="0"/>
                <a:ea typeface="Calibri" pitchFamily="34" charset="-122"/>
                <a:cs typeface="Calibri" pitchFamily="34" charset="-120"/>
              </a:rPr>
              <a:t>Version Spaces &amp;</a:t>
            </a:r>
            <a:endParaRPr dirty="0" sz="1700" lang="en-US"/>
          </a:p>
          <a:p>
            <a:pPr indent="0" marL="0">
              <a:lnSpc>
                <a:spcPct val="110000"/>
              </a:lnSpc>
              <a:buNone/>
            </a:pPr>
            <a:r>
              <a:rPr b="1" dirty="0" sz="1700" lang="en-US">
                <a:solidFill>
                  <a:srgbClr val="1A1A1A"/>
                </a:solidFill>
                <a:latin typeface="Calibri" pitchFamily="34" charset="0"/>
                <a:ea typeface="Calibri" pitchFamily="34" charset="-122"/>
                <a:cs typeface="Calibri" pitchFamily="34" charset="-120"/>
              </a:rPr>
              <a:t>Candidate Elimination</a:t>
            </a:r>
            <a:endParaRPr dirty="0" sz="1700" lang="en-US"/>
          </a:p>
        </p:txBody>
      </p:sp>
      <p:sp>
        <p:nvSpPr>
          <p:cNvPr id="1048594" name="Text 7"/>
          <p:cNvSpPr/>
          <p:nvPr/>
        </p:nvSpPr>
        <p:spPr>
          <a:xfrm>
            <a:off x="777240" y="3703320"/>
            <a:ext cx="3063240" cy="2011680"/>
          </a:xfrm>
          <a:prstGeom prst="rect"/>
          <a:noFill/>
        </p:spPr>
        <p:txBody>
          <a:bodyPr anchor="ctr" rtlCol="0" wrap="square"/>
          <a:p>
            <a:pPr indent="0" marL="0">
              <a:lnSpc>
                <a:spcPct val="130000"/>
              </a:lnSpc>
              <a:buNone/>
            </a:pPr>
            <a:r>
              <a:rPr dirty="0" sz="1250" lang="en-US">
                <a:solidFill>
                  <a:srgbClr val="555555"/>
                </a:solidFill>
                <a:latin typeface="Calibri" pitchFamily="34" charset="0"/>
                <a:ea typeface="Calibri" pitchFamily="34" charset="-122"/>
                <a:cs typeface="Calibri" pitchFamily="34" charset="-120"/>
              </a:rPr>
              <a:t>How S and G boundaries narrow down consistent hypotheses as examples arrive.</a:t>
            </a:r>
            <a:endParaRPr dirty="0" sz="1250" lang="en-US"/>
          </a:p>
        </p:txBody>
      </p:sp>
      <p:sp>
        <p:nvSpPr>
          <p:cNvPr id="1048595" name="Shape 8"/>
          <p:cNvSpPr/>
          <p:nvPr/>
        </p:nvSpPr>
        <p:spPr>
          <a:xfrm>
            <a:off x="4343400" y="1691640"/>
            <a:ext cx="3520440" cy="4297680"/>
          </a:xfrm>
          <a:prstGeom prst="roundRect">
            <a:avLst>
              <a:gd name="adj" fmla="val 2597"/>
            </a:avLst>
          </a:prstGeom>
          <a:solidFill>
            <a:srgbClr val="F4F6F8"/>
          </a:solidFill>
        </p:spPr>
      </p:sp>
      <p:sp>
        <p:nvSpPr>
          <p:cNvPr id="1048596" name="Shape 9"/>
          <p:cNvSpPr/>
          <p:nvPr/>
        </p:nvSpPr>
        <p:spPr>
          <a:xfrm>
            <a:off x="4343400" y="1691640"/>
            <a:ext cx="3520440" cy="822960"/>
          </a:xfrm>
          <a:prstGeom prst="roundRect">
            <a:avLst>
              <a:gd name="adj" fmla="val 11111"/>
            </a:avLst>
          </a:prstGeom>
          <a:solidFill>
            <a:srgbClr val="B45309"/>
          </a:solidFill>
        </p:spPr>
      </p:sp>
      <p:sp>
        <p:nvSpPr>
          <p:cNvPr id="1048597" name="Shape 10"/>
          <p:cNvSpPr/>
          <p:nvPr/>
        </p:nvSpPr>
        <p:spPr>
          <a:xfrm>
            <a:off x="4343400" y="2240280"/>
            <a:ext cx="3520440" cy="274320"/>
          </a:xfrm>
          <a:prstGeom prst="rect"/>
          <a:solidFill>
            <a:srgbClr val="B45309"/>
          </a:solidFill>
        </p:spPr>
      </p:sp>
      <p:sp>
        <p:nvSpPr>
          <p:cNvPr id="1048598" name="Text 11"/>
          <p:cNvSpPr/>
          <p:nvPr/>
        </p:nvSpPr>
        <p:spPr>
          <a:xfrm>
            <a:off x="4572000" y="1783080"/>
            <a:ext cx="1828800" cy="640080"/>
          </a:xfrm>
          <a:prstGeom prst="rect"/>
          <a:noFill/>
        </p:spPr>
        <p:txBody>
          <a:bodyPr anchor="ctr" rtlCol="0" wrap="square"/>
          <a:p>
            <a:pPr indent="0" marL="0">
              <a:buNone/>
            </a:pPr>
            <a:r>
              <a:rPr b="1" dirty="0" sz="2200" lang="en-US">
                <a:solidFill>
                  <a:srgbClr val="FFFFFF"/>
                </a:solidFill>
                <a:latin typeface="Calibri" pitchFamily="34" charset="0"/>
                <a:ea typeface="Calibri" pitchFamily="34" charset="-122"/>
                <a:cs typeface="Calibri" pitchFamily="34" charset="-120"/>
              </a:rPr>
              <a:t>Q8</a:t>
            </a:r>
            <a:endParaRPr dirty="0" sz="2200" lang="en-US"/>
          </a:p>
        </p:txBody>
      </p:sp>
      <p:sp>
        <p:nvSpPr>
          <p:cNvPr id="1048599" name="Text 12"/>
          <p:cNvSpPr/>
          <p:nvPr/>
        </p:nvSpPr>
        <p:spPr>
          <a:xfrm>
            <a:off x="4572000" y="2697480"/>
            <a:ext cx="3063240" cy="914400"/>
          </a:xfrm>
          <a:prstGeom prst="rect"/>
          <a:noFill/>
        </p:spPr>
        <p:txBody>
          <a:bodyPr anchor="ctr" rtlCol="0" wrap="square"/>
          <a:p>
            <a:pPr indent="0" marL="0">
              <a:lnSpc>
                <a:spcPct val="110000"/>
              </a:lnSpc>
              <a:buNone/>
            </a:pPr>
            <a:r>
              <a:rPr b="1" dirty="0" sz="1700" lang="en-US">
                <a:solidFill>
                  <a:srgbClr val="1A1A1A"/>
                </a:solidFill>
                <a:latin typeface="Calibri" pitchFamily="34" charset="0"/>
                <a:ea typeface="Calibri" pitchFamily="34" charset="-122"/>
                <a:cs typeface="Calibri" pitchFamily="34" charset="-120"/>
              </a:rPr>
              <a:t>Inductive Bias in</a:t>
            </a:r>
            <a:endParaRPr dirty="0" sz="1700" lang="en-US"/>
          </a:p>
          <a:p>
            <a:pPr indent="0" marL="0">
              <a:lnSpc>
                <a:spcPct val="110000"/>
              </a:lnSpc>
              <a:buNone/>
            </a:pPr>
            <a:r>
              <a:rPr b="1" dirty="0" sz="1700" lang="en-US">
                <a:solidFill>
                  <a:srgbClr val="1A1A1A"/>
                </a:solidFill>
                <a:latin typeface="Calibri" pitchFamily="34" charset="0"/>
                <a:ea typeface="Calibri" pitchFamily="34" charset="-122"/>
                <a:cs typeface="Calibri" pitchFamily="34" charset="-120"/>
              </a:rPr>
              <a:t>Learning Algorithms</a:t>
            </a:r>
            <a:endParaRPr dirty="0" sz="1700" lang="en-US"/>
          </a:p>
        </p:txBody>
      </p:sp>
      <p:sp>
        <p:nvSpPr>
          <p:cNvPr id="1048600" name="Text 13"/>
          <p:cNvSpPr/>
          <p:nvPr/>
        </p:nvSpPr>
        <p:spPr>
          <a:xfrm>
            <a:off x="4572000" y="3703320"/>
            <a:ext cx="3063240" cy="2011680"/>
          </a:xfrm>
          <a:prstGeom prst="rect"/>
          <a:noFill/>
        </p:spPr>
        <p:txBody>
          <a:bodyPr anchor="ctr" rtlCol="0" wrap="square"/>
          <a:p>
            <a:pPr indent="0" marL="0">
              <a:lnSpc>
                <a:spcPct val="130000"/>
              </a:lnSpc>
              <a:buNone/>
            </a:pPr>
            <a:r>
              <a:rPr dirty="0" sz="1250" lang="en-US">
                <a:solidFill>
                  <a:srgbClr val="555555"/>
                </a:solidFill>
                <a:latin typeface="Calibri" pitchFamily="34" charset="0"/>
                <a:ea typeface="Calibri" pitchFamily="34" charset="-122"/>
                <a:cs typeface="Calibri" pitchFamily="34" charset="-120"/>
              </a:rPr>
              <a:t>Why algorithms need built-in assumptions to generalize beyond training data.</a:t>
            </a:r>
            <a:endParaRPr dirty="0" sz="1250" lang="en-US"/>
          </a:p>
        </p:txBody>
      </p:sp>
      <p:sp>
        <p:nvSpPr>
          <p:cNvPr id="1048601" name="Shape 14"/>
          <p:cNvSpPr/>
          <p:nvPr/>
        </p:nvSpPr>
        <p:spPr>
          <a:xfrm>
            <a:off x="8138160" y="1691640"/>
            <a:ext cx="3520440" cy="4297680"/>
          </a:xfrm>
          <a:prstGeom prst="roundRect">
            <a:avLst>
              <a:gd name="adj" fmla="val 2597"/>
            </a:avLst>
          </a:prstGeom>
          <a:solidFill>
            <a:srgbClr val="F4F6F8"/>
          </a:solidFill>
        </p:spPr>
      </p:sp>
      <p:sp>
        <p:nvSpPr>
          <p:cNvPr id="1048602" name="Shape 15"/>
          <p:cNvSpPr/>
          <p:nvPr/>
        </p:nvSpPr>
        <p:spPr>
          <a:xfrm>
            <a:off x="8138160" y="1691640"/>
            <a:ext cx="3520440" cy="822960"/>
          </a:xfrm>
          <a:prstGeom prst="roundRect">
            <a:avLst>
              <a:gd name="adj" fmla="val 11111"/>
            </a:avLst>
          </a:prstGeom>
          <a:solidFill>
            <a:srgbClr val="1B2A4A"/>
          </a:solidFill>
        </p:spPr>
      </p:sp>
      <p:sp>
        <p:nvSpPr>
          <p:cNvPr id="1048603" name="Shape 16"/>
          <p:cNvSpPr/>
          <p:nvPr/>
        </p:nvSpPr>
        <p:spPr>
          <a:xfrm>
            <a:off x="8138160" y="2240280"/>
            <a:ext cx="3520440" cy="274320"/>
          </a:xfrm>
          <a:prstGeom prst="rect"/>
          <a:solidFill>
            <a:srgbClr val="1B2A4A"/>
          </a:solidFill>
        </p:spPr>
      </p:sp>
      <p:sp>
        <p:nvSpPr>
          <p:cNvPr id="1048604" name="Text 17"/>
          <p:cNvSpPr/>
          <p:nvPr/>
        </p:nvSpPr>
        <p:spPr>
          <a:xfrm>
            <a:off x="8366760" y="1783080"/>
            <a:ext cx="1828800" cy="640080"/>
          </a:xfrm>
          <a:prstGeom prst="rect"/>
          <a:noFill/>
        </p:spPr>
        <p:txBody>
          <a:bodyPr anchor="ctr" rtlCol="0" wrap="square"/>
          <a:p>
            <a:pPr indent="0" marL="0">
              <a:buNone/>
            </a:pPr>
            <a:r>
              <a:rPr b="1" dirty="0" sz="2200" lang="en-US">
                <a:solidFill>
                  <a:srgbClr val="FFFFFF"/>
                </a:solidFill>
                <a:latin typeface="Calibri" pitchFamily="34" charset="0"/>
                <a:ea typeface="Calibri" pitchFamily="34" charset="-122"/>
                <a:cs typeface="Calibri" pitchFamily="34" charset="-120"/>
              </a:rPr>
              <a:t>Q9</a:t>
            </a:r>
            <a:endParaRPr dirty="0" sz="2200" lang="en-US"/>
          </a:p>
        </p:txBody>
      </p:sp>
      <p:sp>
        <p:nvSpPr>
          <p:cNvPr id="1048605" name="Text 18"/>
          <p:cNvSpPr/>
          <p:nvPr/>
        </p:nvSpPr>
        <p:spPr>
          <a:xfrm>
            <a:off x="8366760" y="2697480"/>
            <a:ext cx="3063240" cy="914400"/>
          </a:xfrm>
          <a:prstGeom prst="rect"/>
          <a:noFill/>
        </p:spPr>
        <p:txBody>
          <a:bodyPr anchor="ctr" rtlCol="0" wrap="square"/>
          <a:p>
            <a:pPr indent="0" marL="0">
              <a:lnSpc>
                <a:spcPct val="110000"/>
              </a:lnSpc>
              <a:buNone/>
            </a:pPr>
            <a:r>
              <a:rPr b="1" dirty="0" sz="1700" lang="en-US">
                <a:solidFill>
                  <a:srgbClr val="1A1A1A"/>
                </a:solidFill>
                <a:latin typeface="Calibri" pitchFamily="34" charset="0"/>
                <a:ea typeface="Calibri" pitchFamily="34" charset="-122"/>
                <a:cs typeface="Calibri" pitchFamily="34" charset="-120"/>
              </a:rPr>
              <a:t>Decision Tree Learning</a:t>
            </a:r>
            <a:endParaRPr dirty="0" sz="1700" lang="en-US"/>
          </a:p>
          <a:p>
            <a:pPr indent="0" marL="0">
              <a:lnSpc>
                <a:spcPct val="110000"/>
              </a:lnSpc>
              <a:buNone/>
            </a:pPr>
            <a:r>
              <a:rPr b="1" dirty="0" sz="1700" lang="en-US">
                <a:solidFill>
                  <a:srgbClr val="1A1A1A"/>
                </a:solidFill>
                <a:latin typeface="Calibri" pitchFamily="34" charset="0"/>
                <a:ea typeface="Calibri" pitchFamily="34" charset="-122"/>
                <a:cs typeface="Calibri" pitchFamily="34" charset="-120"/>
              </a:rPr>
              <a:t>&amp; Representation</a:t>
            </a:r>
            <a:endParaRPr dirty="0" sz="1700" lang="en-US"/>
          </a:p>
        </p:txBody>
      </p:sp>
      <p:sp>
        <p:nvSpPr>
          <p:cNvPr id="1048606" name="Text 19"/>
          <p:cNvSpPr/>
          <p:nvPr/>
        </p:nvSpPr>
        <p:spPr>
          <a:xfrm>
            <a:off x="8366760" y="3703320"/>
            <a:ext cx="3063240" cy="2011680"/>
          </a:xfrm>
          <a:prstGeom prst="rect"/>
          <a:noFill/>
        </p:spPr>
        <p:txBody>
          <a:bodyPr anchor="ctr" rtlCol="0" wrap="square"/>
          <a:p>
            <a:pPr indent="0" marL="0">
              <a:lnSpc>
                <a:spcPct val="130000"/>
              </a:lnSpc>
              <a:buNone/>
            </a:pPr>
            <a:r>
              <a:rPr dirty="0" sz="1250" lang="en-US">
                <a:solidFill>
                  <a:srgbClr val="555555"/>
                </a:solidFill>
                <a:latin typeface="Calibri" pitchFamily="34" charset="0"/>
                <a:ea typeface="Calibri" pitchFamily="34" charset="-122"/>
                <a:cs typeface="Calibri" pitchFamily="34" charset="-120"/>
              </a:rPr>
              <a:t>Entropy, Information Gain, and how trees choose the best attribute to split on.</a:t>
            </a:r>
            <a:endParaRPr dirty="0" sz="1250" lang="en-US"/>
          </a:p>
        </p:txBody>
      </p:sp>
      <p:sp>
        <p:nvSpPr>
          <p:cNvPr id="1048607" name="Text 20"/>
          <p:cNvSpPr/>
          <p:nvPr/>
        </p:nvSpPr>
        <p:spPr>
          <a:xfrm>
            <a:off x="457200" y="6537960"/>
            <a:ext cx="5486400" cy="274320"/>
          </a:xfrm>
          <a:prstGeom prst="rect"/>
          <a:noFill/>
        </p:spPr>
        <p:txBody>
          <a:bodyPr anchor="ctr" rtlCol="0" wrap="square"/>
          <a:p>
            <a:pPr indent="0" marL="0">
              <a:buNone/>
            </a:pPr>
            <a:r>
              <a:rPr dirty="0" sz="1000" lang="en-US">
                <a:solidFill>
                  <a:srgbClr val="999999"/>
                </a:solidFill>
                <a:latin typeface="Calibri" pitchFamily="34" charset="0"/>
                <a:ea typeface="Calibri" pitchFamily="34" charset="-122"/>
                <a:cs typeface="Calibri" pitchFamily="34" charset="-120"/>
              </a:rPr>
              <a:t>ITA 06 — Machine Learning  |  CO1</a:t>
            </a:r>
            <a:endParaRPr dirty="0" sz="1000" lang="en-US"/>
          </a:p>
        </p:txBody>
      </p:sp>
      <p:sp>
        <p:nvSpPr>
          <p:cNvPr id="1048608" name="Text 21"/>
          <p:cNvSpPr/>
          <p:nvPr/>
        </p:nvSpPr>
        <p:spPr>
          <a:xfrm>
            <a:off x="11521440" y="6537960"/>
            <a:ext cx="457200" cy="274320"/>
          </a:xfrm>
          <a:prstGeom prst="rect"/>
          <a:noFill/>
        </p:spPr>
        <p:txBody>
          <a:bodyPr anchor="ctr" rtlCol="0" wrap="square"/>
          <a:p>
            <a:pPr algn="r" indent="0" marL="0">
              <a:buNone/>
            </a:pPr>
            <a:r>
              <a:rPr dirty="0" sz="1000" lang="en-US">
                <a:solidFill>
                  <a:srgbClr val="999999"/>
                </a:solidFill>
                <a:latin typeface="Calibri" pitchFamily="34" charset="0"/>
                <a:ea typeface="Calibri" pitchFamily="34" charset="-122"/>
                <a:cs typeface="Calibri" pitchFamily="34" charset="-120"/>
              </a:rPr>
              <a:t>2</a:t>
            </a:r>
            <a:endParaRPr dirty="0" sz="10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20" name=""/>
        <p:cNvGrpSpPr/>
        <p:nvPr/>
      </p:nvGrpSpPr>
      <p:grpSpPr>
        <a:xfrm>
          <a:off x="0" y="0"/>
          <a:ext cx="0" cy="0"/>
          <a:chOff x="0" y="0"/>
          <a:chExt cx="0" cy="0"/>
        </a:xfrm>
      </p:grpSpPr>
      <p:sp>
        <p:nvSpPr>
          <p:cNvPr id="1048612" name="Shape 0"/>
          <p:cNvSpPr/>
          <p:nvPr/>
        </p:nvSpPr>
        <p:spPr>
          <a:xfrm>
            <a:off x="0" y="0"/>
            <a:ext cx="12188952" cy="1051560"/>
          </a:xfrm>
          <a:prstGeom prst="rect"/>
          <a:solidFill>
            <a:srgbClr val="0F766E"/>
          </a:solidFill>
        </p:spPr>
      </p:sp>
      <p:sp>
        <p:nvSpPr>
          <p:cNvPr id="1048613" name="Text 1"/>
          <p:cNvSpPr/>
          <p:nvPr/>
        </p:nvSpPr>
        <p:spPr>
          <a:xfrm>
            <a:off x="548640" y="164592"/>
            <a:ext cx="7315200" cy="320040"/>
          </a:xfrm>
          <a:prstGeom prst="rect"/>
          <a:noFill/>
        </p:spPr>
        <p:txBody>
          <a:bodyPr anchor="ctr" rtlCol="0" wrap="square"/>
          <a:p>
            <a:pPr indent="0" marL="0">
              <a:buNone/>
            </a:pPr>
            <a:r>
              <a:rPr b="1" dirty="0" sz="1300" kern="0" lang="en-US" spc="200">
                <a:solidFill>
                  <a:srgbClr val="E6F4F2"/>
                </a:solidFill>
                <a:latin typeface="Calibri" pitchFamily="34" charset="0"/>
                <a:ea typeface="Calibri" pitchFamily="34" charset="-122"/>
                <a:cs typeface="Calibri" pitchFamily="34" charset="-120"/>
              </a:rPr>
              <a:t>QUESTION 7   ·   5 MARKS</a:t>
            </a:r>
            <a:endParaRPr dirty="0" sz="1300" lang="en-US"/>
          </a:p>
        </p:txBody>
      </p:sp>
      <p:sp>
        <p:nvSpPr>
          <p:cNvPr id="1048614" name="Text 2"/>
          <p:cNvSpPr/>
          <p:nvPr/>
        </p:nvSpPr>
        <p:spPr>
          <a:xfrm>
            <a:off x="548640" y="457200"/>
            <a:ext cx="10972800" cy="548640"/>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Version Spaces and Candidate Elimination</a:t>
            </a:r>
            <a:endParaRPr dirty="0" sz="2600" lang="en-US"/>
          </a:p>
        </p:txBody>
      </p:sp>
      <p:sp>
        <p:nvSpPr>
          <p:cNvPr id="1048615" name="Shape 3"/>
          <p:cNvSpPr/>
          <p:nvPr/>
        </p:nvSpPr>
        <p:spPr>
          <a:xfrm>
            <a:off x="548640" y="1325880"/>
            <a:ext cx="11064240" cy="1051560"/>
          </a:xfrm>
          <a:prstGeom prst="roundRect">
            <a:avLst>
              <a:gd name="adj" fmla="val 6957"/>
            </a:avLst>
          </a:prstGeom>
          <a:solidFill>
            <a:srgbClr val="E6F4F2"/>
          </a:solidFill>
        </p:spPr>
      </p:sp>
      <p:sp>
        <p:nvSpPr>
          <p:cNvPr id="1048616" name="Text 4"/>
          <p:cNvSpPr/>
          <p:nvPr/>
        </p:nvSpPr>
        <p:spPr>
          <a:xfrm>
            <a:off x="777240" y="1417320"/>
            <a:ext cx="10607040" cy="914400"/>
          </a:xfrm>
          <a:prstGeom prst="rect"/>
          <a:noFill/>
        </p:spPr>
        <p:txBody>
          <a:bodyPr anchor="ctr" rtlCol="0" wrap="square"/>
          <a:p>
            <a:pPr indent="0" marL="0">
              <a:lnSpc>
                <a:spcPct val="125000"/>
              </a:lnSpc>
              <a:buNone/>
            </a:pPr>
            <a:r>
              <a:rPr b="1" dirty="0" sz="1250" i="1" lang="en-US">
                <a:solidFill>
                  <a:srgbClr val="0F766E"/>
                </a:solidFill>
                <a:latin typeface="Calibri" pitchFamily="34" charset="0"/>
                <a:ea typeface="Calibri" pitchFamily="34" charset="-122"/>
                <a:cs typeface="Calibri" pitchFamily="34" charset="-120"/>
              </a:rPr>
              <a:t>Q: </a:t>
            </a:r>
            <a:r>
              <a:rPr dirty="0" sz="1250" i="1" lang="en-US">
                <a:solidFill>
                  <a:srgbClr val="1A1A1A"/>
                </a:solidFill>
                <a:latin typeface="Calibri" pitchFamily="34" charset="0"/>
                <a:ea typeface="Calibri" pitchFamily="34" charset="-122"/>
                <a:cs typeface="Calibri" pitchFamily="34" charset="-120"/>
              </a:rPr>
              <a:t>Explain the concept of version spaces and how they represent all hypotheses consistent with training data. Describe the Candidate Elimination algorithm, including the roles of specific (S) and general (G) boundaries, and how they update with positive and negative examples.</a:t>
            </a:r>
            <a:endParaRPr dirty="0" sz="1250" lang="en-US"/>
          </a:p>
        </p:txBody>
      </p:sp>
      <p:sp>
        <p:nvSpPr>
          <p:cNvPr id="1048617" name="Text 5"/>
          <p:cNvSpPr/>
          <p:nvPr/>
        </p:nvSpPr>
        <p:spPr>
          <a:xfrm>
            <a:off x="548640" y="2606040"/>
            <a:ext cx="4572000" cy="365760"/>
          </a:xfrm>
          <a:prstGeom prst="rect"/>
          <a:noFill/>
        </p:spPr>
        <p:txBody>
          <a:bodyPr anchor="ctr" rtlCol="0" wrap="square"/>
          <a:p>
            <a:pPr indent="0" marL="0">
              <a:buNone/>
            </a:pPr>
            <a:r>
              <a:rPr b="1" dirty="0" sz="1600" lang="en-US">
                <a:solidFill>
                  <a:srgbClr val="1B2A4A"/>
                </a:solidFill>
                <a:latin typeface="Calibri" pitchFamily="34" charset="0"/>
                <a:ea typeface="Calibri" pitchFamily="34" charset="-122"/>
                <a:cs typeface="Calibri" pitchFamily="34" charset="-120"/>
              </a:rPr>
              <a:t>Definition</a:t>
            </a:r>
            <a:endParaRPr dirty="0" sz="1600" lang="en-US"/>
          </a:p>
        </p:txBody>
      </p:sp>
      <p:sp>
        <p:nvSpPr>
          <p:cNvPr id="1048618" name="Text 6"/>
          <p:cNvSpPr/>
          <p:nvPr/>
        </p:nvSpPr>
        <p:spPr>
          <a:xfrm>
            <a:off x="548640" y="3017520"/>
            <a:ext cx="5486400" cy="2377440"/>
          </a:xfrm>
          <a:prstGeom prst="rect"/>
          <a:noFill/>
        </p:spPr>
        <p:txBody>
          <a:bodyPr anchor="ctr" rtlCol="0" wrap="square"/>
          <a:p>
            <a:pPr indent="0" marL="0">
              <a:lnSpc>
                <a:spcPct val="130000"/>
              </a:lnSpc>
              <a:buNone/>
            </a:pPr>
            <a:r>
              <a:rPr dirty="0" sz="1300" lang="en-US">
                <a:solidFill>
                  <a:srgbClr val="555555"/>
                </a:solidFill>
                <a:latin typeface="Calibri" pitchFamily="34" charset="0"/>
                <a:ea typeface="Calibri" pitchFamily="34" charset="-122"/>
                <a:cs typeface="Calibri" pitchFamily="34" charset="-120"/>
              </a:rPr>
              <a:t>A version space is the subset of all hypotheses in the hypothesis space H that are consistent with every training example seen so far.
</a:t>
            </a:r>
            <a:r>
              <a:rPr dirty="0" sz="1300" lang="en-US">
                <a:solidFill>
                  <a:srgbClr val="555555"/>
                </a:solidFill>
                <a:latin typeface="Calibri" pitchFamily="34" charset="0"/>
                <a:ea typeface="Calibri" pitchFamily="34" charset="-122"/>
                <a:cs typeface="Calibri" pitchFamily="34" charset="-120"/>
              </a:rPr>
              <a:t>Instead of tracking every consistent hypothesis individually, it is compactly represented using only its two boundaries:</a:t>
            </a:r>
            <a:endParaRPr dirty="0" sz="1300" lang="en-US"/>
          </a:p>
        </p:txBody>
      </p:sp>
      <p:sp>
        <p:nvSpPr>
          <p:cNvPr id="1048619" name="Shape 7"/>
          <p:cNvSpPr/>
          <p:nvPr/>
        </p:nvSpPr>
        <p:spPr>
          <a:xfrm>
            <a:off x="6400800" y="2606040"/>
            <a:ext cx="5212080" cy="3657600"/>
          </a:xfrm>
          <a:prstGeom prst="roundRect">
            <a:avLst>
              <a:gd name="adj" fmla="val 2000"/>
            </a:avLst>
          </a:prstGeom>
          <a:solidFill>
            <a:srgbClr val="F4F6F8"/>
          </a:solidFill>
        </p:spPr>
      </p:sp>
      <p:sp>
        <p:nvSpPr>
          <p:cNvPr id="1048620" name="Text 8"/>
          <p:cNvSpPr/>
          <p:nvPr/>
        </p:nvSpPr>
        <p:spPr>
          <a:xfrm>
            <a:off x="6629400" y="2743200"/>
            <a:ext cx="4754880" cy="320040"/>
          </a:xfrm>
          <a:prstGeom prst="rect"/>
          <a:noFill/>
        </p:spPr>
        <p:txBody>
          <a:bodyPr anchor="ctr" rtlCol="0" wrap="square"/>
          <a:p>
            <a:pPr indent="0" marL="0">
              <a:buNone/>
            </a:pPr>
            <a:r>
              <a:rPr b="1" dirty="0" sz="1200" lang="en-US">
                <a:solidFill>
                  <a:srgbClr val="1B2A4A"/>
                </a:solidFill>
                <a:latin typeface="Calibri" pitchFamily="34" charset="0"/>
                <a:ea typeface="Calibri" pitchFamily="34" charset="-122"/>
                <a:cs typeface="Calibri" pitchFamily="34" charset="-120"/>
              </a:rPr>
              <a:t>VS(H, D) — bounded by two sets</a:t>
            </a:r>
            <a:endParaRPr dirty="0" sz="1200" lang="en-US"/>
          </a:p>
        </p:txBody>
      </p:sp>
      <p:sp>
        <p:nvSpPr>
          <p:cNvPr id="1048621" name="Shape 9"/>
          <p:cNvSpPr/>
          <p:nvPr/>
        </p:nvSpPr>
        <p:spPr>
          <a:xfrm>
            <a:off x="6720840" y="3246120"/>
            <a:ext cx="4480560" cy="1005840"/>
          </a:xfrm>
          <a:prstGeom prst="roundRect">
            <a:avLst>
              <a:gd name="adj" fmla="val 5455"/>
            </a:avLst>
          </a:prstGeom>
          <a:solidFill>
            <a:srgbClr val="FFFFFF"/>
          </a:solidFill>
          <a:ln w="19050">
            <a:solidFill>
              <a:srgbClr val="B45309"/>
            </a:solidFill>
            <a:prstDash val="solid"/>
          </a:ln>
        </p:spPr>
      </p:sp>
      <p:sp>
        <p:nvSpPr>
          <p:cNvPr id="1048622" name="Text 10"/>
          <p:cNvSpPr/>
          <p:nvPr/>
        </p:nvSpPr>
        <p:spPr>
          <a:xfrm>
            <a:off x="6903720" y="3337560"/>
            <a:ext cx="4114800" cy="822960"/>
          </a:xfrm>
          <a:prstGeom prst="rect"/>
          <a:noFill/>
        </p:spPr>
        <p:txBody>
          <a:bodyPr anchor="ctr" rtlCol="0" wrap="square"/>
          <a:p>
            <a:pPr indent="0" marL="0">
              <a:lnSpc>
                <a:spcPct val="115000"/>
              </a:lnSpc>
              <a:buNone/>
            </a:pPr>
            <a:r>
              <a:rPr b="1" dirty="0" sz="1250" lang="en-US">
                <a:solidFill>
                  <a:srgbClr val="B45309"/>
                </a:solidFill>
                <a:latin typeface="Calibri" pitchFamily="34" charset="0"/>
                <a:ea typeface="Calibri" pitchFamily="34" charset="-122"/>
                <a:cs typeface="Calibri" pitchFamily="34" charset="-120"/>
              </a:rPr>
              <a:t>G — General boundary
</a:t>
            </a:r>
            <a:r>
              <a:rPr dirty="0" sz="1100" lang="en-US">
                <a:solidFill>
                  <a:srgbClr val="555555"/>
                </a:solidFill>
                <a:latin typeface="Calibri" pitchFamily="34" charset="0"/>
                <a:ea typeface="Calibri" pitchFamily="34" charset="-122"/>
                <a:cs typeface="Calibri" pitchFamily="34" charset="-120"/>
              </a:rPr>
              <a:t>Maximally general hypotheses consistent with D</a:t>
            </a:r>
            <a:endParaRPr dirty="0" sz="1250" lang="en-US"/>
          </a:p>
        </p:txBody>
      </p:sp>
      <p:sp>
        <p:nvSpPr>
          <p:cNvPr id="1048623" name="Shape 11"/>
          <p:cNvSpPr/>
          <p:nvPr/>
        </p:nvSpPr>
        <p:spPr>
          <a:xfrm>
            <a:off x="8961120" y="4251960"/>
            <a:ext cx="0" cy="502920"/>
          </a:xfrm>
          <a:prstGeom prst="line"/>
          <a:noFill/>
          <a:ln w="19050">
            <a:solidFill>
              <a:srgbClr val="999999"/>
            </a:solidFill>
            <a:prstDash val="dash"/>
          </a:ln>
        </p:spPr>
      </p:sp>
      <p:sp>
        <p:nvSpPr>
          <p:cNvPr id="1048624" name="Text 12"/>
          <p:cNvSpPr/>
          <p:nvPr/>
        </p:nvSpPr>
        <p:spPr>
          <a:xfrm>
            <a:off x="9144000" y="4279392"/>
            <a:ext cx="2011680" cy="457200"/>
          </a:xfrm>
          <a:prstGeom prst="rect"/>
          <a:noFill/>
        </p:spPr>
        <p:txBody>
          <a:bodyPr anchor="ctr" rtlCol="0" wrap="square"/>
          <a:p>
            <a:pPr indent="0" marL="0">
              <a:buNone/>
            </a:pPr>
            <a:r>
              <a:rPr dirty="0" sz="950" i="1" lang="en-US">
                <a:solidFill>
                  <a:srgbClr val="888888"/>
                </a:solidFill>
                <a:latin typeface="Calibri" pitchFamily="34" charset="0"/>
                <a:ea typeface="Calibri" pitchFamily="34" charset="-122"/>
                <a:cs typeface="Calibri" pitchFamily="34" charset="-120"/>
              </a:rPr>
              <a:t>all hypotheses in</a:t>
            </a:r>
            <a:endParaRPr dirty="0" sz="950" lang="en-US"/>
          </a:p>
          <a:p>
            <a:pPr indent="0" marL="0">
              <a:buNone/>
            </a:pPr>
            <a:r>
              <a:rPr dirty="0" sz="950" i="1" lang="en-US">
                <a:solidFill>
                  <a:srgbClr val="888888"/>
                </a:solidFill>
                <a:latin typeface="Calibri" pitchFamily="34" charset="0"/>
                <a:ea typeface="Calibri" pitchFamily="34" charset="-122"/>
                <a:cs typeface="Calibri" pitchFamily="34" charset="-120"/>
              </a:rPr>
              <a:t>between are consistent</a:t>
            </a:r>
            <a:endParaRPr dirty="0" sz="950" lang="en-US"/>
          </a:p>
        </p:txBody>
      </p:sp>
      <p:sp>
        <p:nvSpPr>
          <p:cNvPr id="1048625" name="Shape 13"/>
          <p:cNvSpPr/>
          <p:nvPr/>
        </p:nvSpPr>
        <p:spPr>
          <a:xfrm>
            <a:off x="6720840" y="4892040"/>
            <a:ext cx="4480560" cy="1005840"/>
          </a:xfrm>
          <a:prstGeom prst="roundRect">
            <a:avLst>
              <a:gd name="adj" fmla="val 5455"/>
            </a:avLst>
          </a:prstGeom>
          <a:solidFill>
            <a:srgbClr val="FFFFFF"/>
          </a:solidFill>
          <a:ln w="19050">
            <a:solidFill>
              <a:srgbClr val="0F766E"/>
            </a:solidFill>
            <a:prstDash val="solid"/>
          </a:ln>
        </p:spPr>
      </p:sp>
      <p:sp>
        <p:nvSpPr>
          <p:cNvPr id="1048626" name="Text 14"/>
          <p:cNvSpPr/>
          <p:nvPr/>
        </p:nvSpPr>
        <p:spPr>
          <a:xfrm>
            <a:off x="6903720" y="4983480"/>
            <a:ext cx="4114800" cy="822960"/>
          </a:xfrm>
          <a:prstGeom prst="rect"/>
          <a:noFill/>
        </p:spPr>
        <p:txBody>
          <a:bodyPr anchor="ctr" rtlCol="0" wrap="square"/>
          <a:p>
            <a:pPr indent="0" marL="0">
              <a:lnSpc>
                <a:spcPct val="115000"/>
              </a:lnSpc>
              <a:buNone/>
            </a:pPr>
            <a:r>
              <a:rPr b="1" dirty="0" sz="1250" lang="en-US">
                <a:solidFill>
                  <a:srgbClr val="0F766E"/>
                </a:solidFill>
                <a:latin typeface="Calibri" pitchFamily="34" charset="0"/>
                <a:ea typeface="Calibri" pitchFamily="34" charset="-122"/>
                <a:cs typeface="Calibri" pitchFamily="34" charset="-120"/>
              </a:rPr>
              <a:t>S — Specific boundary
</a:t>
            </a:r>
            <a:r>
              <a:rPr dirty="0" sz="1100" lang="en-US">
                <a:solidFill>
                  <a:srgbClr val="555555"/>
                </a:solidFill>
                <a:latin typeface="Calibri" pitchFamily="34" charset="0"/>
                <a:ea typeface="Calibri" pitchFamily="34" charset="-122"/>
                <a:cs typeface="Calibri" pitchFamily="34" charset="-120"/>
              </a:rPr>
              <a:t>Maximally specific hypotheses consistent with D</a:t>
            </a:r>
            <a:endParaRPr dirty="0" sz="1250" lang="en-US"/>
          </a:p>
        </p:txBody>
      </p:sp>
      <p:sp>
        <p:nvSpPr>
          <p:cNvPr id="1048627" name="Text 15"/>
          <p:cNvSpPr/>
          <p:nvPr/>
        </p:nvSpPr>
        <p:spPr>
          <a:xfrm>
            <a:off x="548640" y="5074920"/>
            <a:ext cx="5486400" cy="457200"/>
          </a:xfrm>
          <a:prstGeom prst="rect"/>
          <a:noFill/>
        </p:spPr>
        <p:txBody>
          <a:bodyPr anchor="ctr" rtlCol="0" wrap="square"/>
          <a:p>
            <a:pPr indent="0" marL="0">
              <a:buNone/>
            </a:pPr>
            <a:r>
              <a:rPr b="1" dirty="0" sz="1300" lang="en-US">
                <a:solidFill>
                  <a:srgbClr val="1B2A4A"/>
                </a:solidFill>
                <a:latin typeface="Consolas" pitchFamily="34" charset="0"/>
                <a:ea typeface="Consolas" pitchFamily="34" charset="-122"/>
                <a:cs typeface="Consolas" pitchFamily="34" charset="-120"/>
              </a:rPr>
              <a:t>VS(H,D) = { h ∈ H | Consistent(h, D) }</a:t>
            </a:r>
            <a:endParaRPr dirty="0" sz="1300" lang="en-US"/>
          </a:p>
        </p:txBody>
      </p:sp>
      <p:sp>
        <p:nvSpPr>
          <p:cNvPr id="1048628" name="Text 16"/>
          <p:cNvSpPr/>
          <p:nvPr/>
        </p:nvSpPr>
        <p:spPr>
          <a:xfrm>
            <a:off x="457200" y="6537960"/>
            <a:ext cx="5486400" cy="274320"/>
          </a:xfrm>
          <a:prstGeom prst="rect"/>
          <a:noFill/>
        </p:spPr>
        <p:txBody>
          <a:bodyPr anchor="ctr" rtlCol="0" wrap="square"/>
          <a:p>
            <a:pPr indent="0" marL="0">
              <a:buNone/>
            </a:pPr>
            <a:r>
              <a:rPr dirty="0" sz="1000" lang="en-US">
                <a:solidFill>
                  <a:srgbClr val="999999"/>
                </a:solidFill>
                <a:latin typeface="Calibri" pitchFamily="34" charset="0"/>
                <a:ea typeface="Calibri" pitchFamily="34" charset="-122"/>
                <a:cs typeface="Calibri" pitchFamily="34" charset="-120"/>
              </a:rPr>
              <a:t>ITA 06 — Machine Learning  |  CO1</a:t>
            </a:r>
            <a:endParaRPr dirty="0" sz="1000" lang="en-US"/>
          </a:p>
        </p:txBody>
      </p:sp>
      <p:sp>
        <p:nvSpPr>
          <p:cNvPr id="1048629" name="Text 17"/>
          <p:cNvSpPr/>
          <p:nvPr/>
        </p:nvSpPr>
        <p:spPr>
          <a:xfrm>
            <a:off x="11521440" y="6537960"/>
            <a:ext cx="457200" cy="274320"/>
          </a:xfrm>
          <a:prstGeom prst="rect"/>
          <a:noFill/>
        </p:spPr>
        <p:txBody>
          <a:bodyPr anchor="ctr" rtlCol="0" wrap="square"/>
          <a:p>
            <a:pPr algn="r" indent="0" marL="0">
              <a:buNone/>
            </a:pPr>
            <a:r>
              <a:rPr dirty="0" sz="1000" lang="en-US">
                <a:solidFill>
                  <a:srgbClr val="999999"/>
                </a:solidFill>
                <a:latin typeface="Calibri" pitchFamily="34" charset="0"/>
                <a:ea typeface="Calibri" pitchFamily="34" charset="-122"/>
                <a:cs typeface="Calibri" pitchFamily="34" charset="-120"/>
              </a:rPr>
              <a:t>3</a:t>
            </a:r>
            <a:endParaRPr dirty="0" sz="10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23" name=""/>
        <p:cNvGrpSpPr/>
        <p:nvPr/>
      </p:nvGrpSpPr>
      <p:grpSpPr>
        <a:xfrm>
          <a:off x="0" y="0"/>
          <a:ext cx="0" cy="0"/>
          <a:chOff x="0" y="0"/>
          <a:chExt cx="0" cy="0"/>
        </a:xfrm>
      </p:grpSpPr>
      <p:sp>
        <p:nvSpPr>
          <p:cNvPr id="1048633" name="Text 0"/>
          <p:cNvSpPr/>
          <p:nvPr/>
        </p:nvSpPr>
        <p:spPr>
          <a:xfrm>
            <a:off x="548640" y="365760"/>
            <a:ext cx="10972800" cy="502920"/>
          </a:xfrm>
          <a:prstGeom prst="rect"/>
          <a:noFill/>
        </p:spPr>
        <p:txBody>
          <a:bodyPr anchor="ctr" rtlCol="0" wrap="square"/>
          <a:p>
            <a:pPr indent="0" marL="0">
              <a:buNone/>
            </a:pPr>
            <a:r>
              <a:rPr b="1" dirty="0" sz="2600" lang="en-US">
                <a:solidFill>
                  <a:srgbClr val="1B2A4A"/>
                </a:solidFill>
                <a:latin typeface="Calibri" pitchFamily="34" charset="0"/>
                <a:ea typeface="Calibri" pitchFamily="34" charset="-122"/>
                <a:cs typeface="Calibri" pitchFamily="34" charset="-120"/>
              </a:rPr>
              <a:t>Candidate Elimination — Update Rules</a:t>
            </a:r>
            <a:endParaRPr dirty="0" sz="2600" lang="en-US"/>
          </a:p>
        </p:txBody>
      </p:sp>
      <p:sp>
        <p:nvSpPr>
          <p:cNvPr id="1048634" name="Shape 1"/>
          <p:cNvSpPr/>
          <p:nvPr/>
        </p:nvSpPr>
        <p:spPr>
          <a:xfrm>
            <a:off x="548640" y="914400"/>
            <a:ext cx="11064240" cy="0"/>
          </a:xfrm>
          <a:prstGeom prst="line"/>
          <a:noFill/>
          <a:ln w="12700">
            <a:solidFill>
              <a:srgbClr val="DDDDDD"/>
            </a:solidFill>
            <a:prstDash val="solid"/>
          </a:ln>
        </p:spPr>
      </p:sp>
      <p:sp>
        <p:nvSpPr>
          <p:cNvPr id="1048635" name="Shape 2"/>
          <p:cNvSpPr/>
          <p:nvPr/>
        </p:nvSpPr>
        <p:spPr>
          <a:xfrm>
            <a:off x="548640" y="1188720"/>
            <a:ext cx="5440680" cy="2468880"/>
          </a:xfrm>
          <a:prstGeom prst="roundRect">
            <a:avLst>
              <a:gd name="adj" fmla="val 2963"/>
            </a:avLst>
          </a:prstGeom>
          <a:solidFill>
            <a:srgbClr val="E6F4F2"/>
          </a:solidFill>
        </p:spPr>
      </p:sp>
      <p:sp>
        <p:nvSpPr>
          <p:cNvPr id="1048636" name="Text 3"/>
          <p:cNvSpPr/>
          <p:nvPr/>
        </p:nvSpPr>
        <p:spPr>
          <a:xfrm>
            <a:off x="777240" y="1325880"/>
            <a:ext cx="4937760" cy="365760"/>
          </a:xfrm>
          <a:prstGeom prst="rect"/>
          <a:noFill/>
        </p:spPr>
        <p:txBody>
          <a:bodyPr anchor="ctr" rtlCol="0" wrap="square"/>
          <a:p>
            <a:pPr indent="0" marL="0">
              <a:buNone/>
            </a:pPr>
            <a:r>
              <a:rPr b="1" dirty="0" sz="1500" lang="en-US">
                <a:solidFill>
                  <a:srgbClr val="0F766E"/>
                </a:solidFill>
                <a:latin typeface="Calibri" pitchFamily="34" charset="0"/>
                <a:ea typeface="Calibri" pitchFamily="34" charset="-122"/>
                <a:cs typeface="Calibri" pitchFamily="34" charset="-120"/>
              </a:rPr>
              <a:t>On a POSITIVE example</a:t>
            </a:r>
            <a:endParaRPr dirty="0" sz="1500" lang="en-US"/>
          </a:p>
        </p:txBody>
      </p:sp>
      <p:sp>
        <p:nvSpPr>
          <p:cNvPr id="1048637" name="Text 4"/>
          <p:cNvSpPr/>
          <p:nvPr/>
        </p:nvSpPr>
        <p:spPr>
          <a:xfrm>
            <a:off x="822960" y="1783080"/>
            <a:ext cx="4937760" cy="1737360"/>
          </a:xfrm>
          <a:prstGeom prst="rect"/>
          <a:noFill/>
        </p:spPr>
        <p:txBody>
          <a:bodyPr anchor="ctr" rtlCol="0" wrap="square"/>
          <a:p>
            <a:pPr indent="0" marL="0">
              <a:lnSpc>
                <a:spcPct val="135000"/>
              </a:lnSpc>
              <a:spcAft>
                <a:spcPts val="600"/>
              </a:spcAft>
              <a:buNone/>
            </a:pPr>
            <a:r>
              <a:rPr dirty="0" sz="1200" lang="en-US">
                <a:solidFill>
                  <a:srgbClr val="1A1A1A"/>
                </a:solidFill>
                <a:latin typeface="Calibri" pitchFamily="34" charset="0"/>
                <a:ea typeface="Calibri" pitchFamily="34" charset="-122"/>
                <a:cs typeface="Calibri" pitchFamily="34" charset="-120"/>
              </a:rPr>
              <a:t>• Remove from G any hypothesis inconsistent with the example
</a:t>
            </a:r>
            <a:r>
              <a:rPr dirty="0" sz="1200" lang="en-US">
                <a:solidFill>
                  <a:srgbClr val="1A1A1A"/>
                </a:solidFill>
                <a:latin typeface="Calibri" pitchFamily="34" charset="0"/>
                <a:ea typeface="Calibri" pitchFamily="34" charset="-122"/>
                <a:cs typeface="Calibri" pitchFamily="34" charset="-120"/>
              </a:rPr>
              <a:t>• Generalize S just enough so every member covers the new example
</a:t>
            </a:r>
            <a:r>
              <a:rPr dirty="0" sz="1200" lang="en-US">
                <a:solidFill>
                  <a:srgbClr val="1A1A1A"/>
                </a:solidFill>
                <a:latin typeface="Calibri" pitchFamily="34" charset="0"/>
                <a:ea typeface="Calibri" pitchFamily="34" charset="-122"/>
                <a:cs typeface="Calibri" pitchFamily="34" charset="-120"/>
              </a:rPr>
              <a:t>• Remove from S any hypothesis more general than another in S
</a:t>
            </a:r>
            <a:r>
              <a:rPr dirty="0" sz="1200" lang="en-US">
                <a:solidFill>
                  <a:srgbClr val="1A1A1A"/>
                </a:solidFill>
                <a:latin typeface="Calibri" pitchFamily="34" charset="0"/>
                <a:ea typeface="Calibri" pitchFamily="34" charset="-122"/>
                <a:cs typeface="Calibri" pitchFamily="34" charset="-120"/>
              </a:rPr>
              <a:t>• Remove from S any hypothesis not more specific than some hypothesis in G</a:t>
            </a:r>
            <a:endParaRPr dirty="0" sz="1200" lang="en-US"/>
          </a:p>
        </p:txBody>
      </p:sp>
      <p:sp>
        <p:nvSpPr>
          <p:cNvPr id="1048638" name="Shape 5"/>
          <p:cNvSpPr/>
          <p:nvPr/>
        </p:nvSpPr>
        <p:spPr>
          <a:xfrm>
            <a:off x="6172200" y="1188720"/>
            <a:ext cx="5440680" cy="2468880"/>
          </a:xfrm>
          <a:prstGeom prst="roundRect">
            <a:avLst>
              <a:gd name="adj" fmla="val 2963"/>
            </a:avLst>
          </a:prstGeom>
          <a:solidFill>
            <a:srgbClr val="FDF3E7"/>
          </a:solidFill>
        </p:spPr>
      </p:sp>
      <p:sp>
        <p:nvSpPr>
          <p:cNvPr id="1048639" name="Text 6"/>
          <p:cNvSpPr/>
          <p:nvPr/>
        </p:nvSpPr>
        <p:spPr>
          <a:xfrm>
            <a:off x="6400800" y="1325880"/>
            <a:ext cx="4937760" cy="365760"/>
          </a:xfrm>
          <a:prstGeom prst="rect"/>
          <a:noFill/>
        </p:spPr>
        <p:txBody>
          <a:bodyPr anchor="ctr" rtlCol="0" wrap="square"/>
          <a:p>
            <a:pPr indent="0" marL="0">
              <a:buNone/>
            </a:pPr>
            <a:r>
              <a:rPr b="1" dirty="0" sz="1500" lang="en-US">
                <a:solidFill>
                  <a:srgbClr val="B45309"/>
                </a:solidFill>
                <a:latin typeface="Calibri" pitchFamily="34" charset="0"/>
                <a:ea typeface="Calibri" pitchFamily="34" charset="-122"/>
                <a:cs typeface="Calibri" pitchFamily="34" charset="-120"/>
              </a:rPr>
              <a:t>On a NEGATIVE example</a:t>
            </a:r>
            <a:endParaRPr dirty="0" sz="1500" lang="en-US"/>
          </a:p>
        </p:txBody>
      </p:sp>
      <p:sp>
        <p:nvSpPr>
          <p:cNvPr id="1048640" name="Text 7"/>
          <p:cNvSpPr/>
          <p:nvPr/>
        </p:nvSpPr>
        <p:spPr>
          <a:xfrm>
            <a:off x="6400800" y="1783080"/>
            <a:ext cx="4937760" cy="1737360"/>
          </a:xfrm>
          <a:prstGeom prst="rect"/>
          <a:noFill/>
        </p:spPr>
        <p:txBody>
          <a:bodyPr anchor="ctr" rtlCol="0" wrap="square"/>
          <a:p>
            <a:pPr indent="0" marL="0">
              <a:lnSpc>
                <a:spcPct val="135000"/>
              </a:lnSpc>
              <a:spcAft>
                <a:spcPts val="600"/>
              </a:spcAft>
              <a:buNone/>
            </a:pPr>
            <a:r>
              <a:rPr dirty="0" sz="1200" lang="en-US">
                <a:solidFill>
                  <a:srgbClr val="1A1A1A"/>
                </a:solidFill>
                <a:latin typeface="Calibri" pitchFamily="34" charset="0"/>
                <a:ea typeface="Calibri" pitchFamily="34" charset="-122"/>
                <a:cs typeface="Calibri" pitchFamily="34" charset="-120"/>
              </a:rPr>
              <a:t>• Remove from S any hypothesis inconsistent with the example
</a:t>
            </a:r>
            <a:r>
              <a:rPr dirty="0" sz="1200" lang="en-US">
                <a:solidFill>
                  <a:srgbClr val="1A1A1A"/>
                </a:solidFill>
                <a:latin typeface="Calibri" pitchFamily="34" charset="0"/>
                <a:ea typeface="Calibri" pitchFamily="34" charset="-122"/>
                <a:cs typeface="Calibri" pitchFamily="34" charset="-120"/>
              </a:rPr>
              <a:t>• Specialize G just enough so no member covers the negative example
</a:t>
            </a:r>
            <a:r>
              <a:rPr dirty="0" sz="1200" lang="en-US">
                <a:solidFill>
                  <a:srgbClr val="1A1A1A"/>
                </a:solidFill>
                <a:latin typeface="Calibri" pitchFamily="34" charset="0"/>
                <a:ea typeface="Calibri" pitchFamily="34" charset="-122"/>
                <a:cs typeface="Calibri" pitchFamily="34" charset="-120"/>
              </a:rPr>
              <a:t>• Remove from G any hypothesis less general than another in G
</a:t>
            </a:r>
            <a:r>
              <a:rPr dirty="0" sz="1200" lang="en-US">
                <a:solidFill>
                  <a:srgbClr val="1A1A1A"/>
                </a:solidFill>
                <a:latin typeface="Calibri" pitchFamily="34" charset="0"/>
                <a:ea typeface="Calibri" pitchFamily="34" charset="-122"/>
                <a:cs typeface="Calibri" pitchFamily="34" charset="-120"/>
              </a:rPr>
              <a:t>• Remove from G any hypothesis not more general than some hypothesis in S</a:t>
            </a:r>
            <a:endParaRPr dirty="0" sz="1200" lang="en-US"/>
          </a:p>
        </p:txBody>
      </p:sp>
      <p:sp>
        <p:nvSpPr>
          <p:cNvPr id="1048641" name="Shape 8"/>
          <p:cNvSpPr/>
          <p:nvPr/>
        </p:nvSpPr>
        <p:spPr>
          <a:xfrm>
            <a:off x="548640" y="3840480"/>
            <a:ext cx="11064240" cy="1417320"/>
          </a:xfrm>
          <a:prstGeom prst="roundRect">
            <a:avLst>
              <a:gd name="adj" fmla="val 5161"/>
            </a:avLst>
          </a:prstGeom>
          <a:solidFill>
            <a:srgbClr val="F4F6F8"/>
          </a:solidFill>
        </p:spPr>
      </p:sp>
      <p:sp>
        <p:nvSpPr>
          <p:cNvPr id="1048642" name="Text 9"/>
          <p:cNvSpPr/>
          <p:nvPr/>
        </p:nvSpPr>
        <p:spPr>
          <a:xfrm>
            <a:off x="777240" y="3977640"/>
            <a:ext cx="3657600" cy="365760"/>
          </a:xfrm>
          <a:prstGeom prst="rect"/>
          <a:noFill/>
        </p:spPr>
        <p:txBody>
          <a:bodyPr anchor="ctr" rtlCol="0" wrap="square"/>
          <a:p>
            <a:pPr indent="0" marL="0">
              <a:buNone/>
            </a:pPr>
            <a:r>
              <a:rPr b="1" dirty="0" sz="1400" lang="en-US">
                <a:solidFill>
                  <a:srgbClr val="1B2A4A"/>
                </a:solidFill>
                <a:latin typeface="Calibri" pitchFamily="34" charset="0"/>
                <a:ea typeface="Calibri" pitchFamily="34" charset="-122"/>
                <a:cs typeface="Calibri" pitchFamily="34" charset="-120"/>
              </a:rPr>
              <a:t>Convergence</a:t>
            </a:r>
            <a:endParaRPr dirty="0" sz="1400" lang="en-US"/>
          </a:p>
        </p:txBody>
      </p:sp>
      <p:sp>
        <p:nvSpPr>
          <p:cNvPr id="1048643" name="Text 10"/>
          <p:cNvSpPr/>
          <p:nvPr/>
        </p:nvSpPr>
        <p:spPr>
          <a:xfrm>
            <a:off x="777240" y="4343400"/>
            <a:ext cx="10607040" cy="822960"/>
          </a:xfrm>
          <a:prstGeom prst="rect"/>
          <a:noFill/>
        </p:spPr>
        <p:txBody>
          <a:bodyPr anchor="ctr" rtlCol="0" wrap="square"/>
          <a:p>
            <a:pPr indent="0" marL="0">
              <a:lnSpc>
                <a:spcPct val="130000"/>
              </a:lnSpc>
              <a:buNone/>
            </a:pPr>
            <a:r>
              <a:rPr dirty="0" sz="1250" lang="en-US">
                <a:solidFill>
                  <a:srgbClr val="555555"/>
                </a:solidFill>
                <a:latin typeface="Calibri" pitchFamily="34" charset="0"/>
                <a:ea typeface="Calibri" pitchFamily="34" charset="-122"/>
                <a:cs typeface="Calibri" pitchFamily="34" charset="-120"/>
              </a:rPr>
              <a:t>The algorithm converges when S = G = a single hypothesis — this is the target concept, provided the hypothesis space contains it and training data is noise-free.</a:t>
            </a:r>
            <a:endParaRPr dirty="0" sz="1250" lang="en-US"/>
          </a:p>
        </p:txBody>
      </p:sp>
      <p:sp>
        <p:nvSpPr>
          <p:cNvPr id="1048644" name="Text 11"/>
          <p:cNvSpPr/>
          <p:nvPr/>
        </p:nvSpPr>
        <p:spPr>
          <a:xfrm>
            <a:off x="548640" y="5440680"/>
            <a:ext cx="9144000" cy="365760"/>
          </a:xfrm>
          <a:prstGeom prst="rect"/>
          <a:noFill/>
        </p:spPr>
        <p:txBody>
          <a:bodyPr anchor="ctr" rtlCol="0" wrap="square"/>
          <a:p>
            <a:pPr indent="0" marL="0">
              <a:buNone/>
            </a:pPr>
            <a:r>
              <a:rPr b="1" dirty="0" sz="1400" lang="en-US">
                <a:solidFill>
                  <a:srgbClr val="1B2A4A"/>
                </a:solidFill>
                <a:latin typeface="Calibri" pitchFamily="34" charset="0"/>
                <a:ea typeface="Calibri" pitchFamily="34" charset="-122"/>
                <a:cs typeface="Calibri" pitchFamily="34" charset="-120"/>
              </a:rPr>
              <a:t>Significance for classification &amp; knowledge extraction</a:t>
            </a:r>
            <a:endParaRPr dirty="0" sz="1400" lang="en-US"/>
          </a:p>
        </p:txBody>
      </p:sp>
      <p:sp>
        <p:nvSpPr>
          <p:cNvPr id="1048645" name="Text 12"/>
          <p:cNvSpPr/>
          <p:nvPr/>
        </p:nvSpPr>
        <p:spPr>
          <a:xfrm>
            <a:off x="548640" y="5806440"/>
            <a:ext cx="11064240" cy="822960"/>
          </a:xfrm>
          <a:prstGeom prst="rect"/>
          <a:noFill/>
        </p:spPr>
        <p:txBody>
          <a:bodyPr anchor="ctr" rtlCol="0" wrap="square"/>
          <a:p>
            <a:pPr indent="0" marL="0">
              <a:lnSpc>
                <a:spcPct val="125000"/>
              </a:lnSpc>
              <a:buNone/>
            </a:pPr>
            <a:r>
              <a:rPr dirty="0" sz="1200" lang="en-US">
                <a:solidFill>
                  <a:srgbClr val="555555"/>
                </a:solidFill>
                <a:latin typeface="Calibri" pitchFamily="34" charset="0"/>
                <a:ea typeface="Calibri" pitchFamily="34" charset="-122"/>
                <a:cs typeface="Calibri" pitchFamily="34" charset="-120"/>
              </a:rPr>
              <a:t>Any hypothesis strictly between S and G is guaranteed consistent with all data seen — so the version space itself can classify new instances: unanimous agreement of S/G members classifies confidently, disagreement flags an ambiguous instance.</a:t>
            </a:r>
            <a:endParaRPr dirty="0" sz="1200" lang="en-US"/>
          </a:p>
        </p:txBody>
      </p:sp>
      <p:sp>
        <p:nvSpPr>
          <p:cNvPr id="1048646" name="Text 13"/>
          <p:cNvSpPr/>
          <p:nvPr/>
        </p:nvSpPr>
        <p:spPr>
          <a:xfrm>
            <a:off x="457200" y="6537960"/>
            <a:ext cx="5486400" cy="274320"/>
          </a:xfrm>
          <a:prstGeom prst="rect"/>
          <a:noFill/>
        </p:spPr>
        <p:txBody>
          <a:bodyPr anchor="ctr" rtlCol="0" wrap="square"/>
          <a:p>
            <a:pPr indent="0" marL="0">
              <a:buNone/>
            </a:pPr>
            <a:r>
              <a:rPr dirty="0" sz="1000" lang="en-US">
                <a:solidFill>
                  <a:srgbClr val="999999"/>
                </a:solidFill>
                <a:latin typeface="Calibri" pitchFamily="34" charset="0"/>
                <a:ea typeface="Calibri" pitchFamily="34" charset="-122"/>
                <a:cs typeface="Calibri" pitchFamily="34" charset="-120"/>
              </a:rPr>
              <a:t>ITA 06 — Machine Learning  |  CO1</a:t>
            </a:r>
            <a:endParaRPr dirty="0" sz="1000" lang="en-US"/>
          </a:p>
        </p:txBody>
      </p:sp>
      <p:sp>
        <p:nvSpPr>
          <p:cNvPr id="1048647" name="Text 14"/>
          <p:cNvSpPr/>
          <p:nvPr/>
        </p:nvSpPr>
        <p:spPr>
          <a:xfrm>
            <a:off x="11521440" y="6537960"/>
            <a:ext cx="457200" cy="274320"/>
          </a:xfrm>
          <a:prstGeom prst="rect"/>
          <a:noFill/>
        </p:spPr>
        <p:txBody>
          <a:bodyPr anchor="ctr" rtlCol="0" wrap="square"/>
          <a:p>
            <a:pPr algn="r" indent="0" marL="0">
              <a:buNone/>
            </a:pPr>
            <a:r>
              <a:rPr dirty="0" sz="1000" lang="en-US">
                <a:solidFill>
                  <a:srgbClr val="999999"/>
                </a:solidFill>
                <a:latin typeface="Calibri" pitchFamily="34" charset="0"/>
                <a:ea typeface="Calibri" pitchFamily="34" charset="-122"/>
                <a:cs typeface="Calibri" pitchFamily="34" charset="-120"/>
              </a:rPr>
              <a:t>4</a:t>
            </a:r>
            <a:endParaRPr dirty="0" sz="10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26" name=""/>
        <p:cNvGrpSpPr/>
        <p:nvPr/>
      </p:nvGrpSpPr>
      <p:grpSpPr>
        <a:xfrm>
          <a:off x="0" y="0"/>
          <a:ext cx="0" cy="0"/>
          <a:chOff x="0" y="0"/>
          <a:chExt cx="0" cy="0"/>
        </a:xfrm>
      </p:grpSpPr>
      <p:sp>
        <p:nvSpPr>
          <p:cNvPr id="1048651" name="Shape 0"/>
          <p:cNvSpPr/>
          <p:nvPr/>
        </p:nvSpPr>
        <p:spPr>
          <a:xfrm>
            <a:off x="0" y="0"/>
            <a:ext cx="12188952" cy="1051560"/>
          </a:xfrm>
          <a:prstGeom prst="rect"/>
          <a:solidFill>
            <a:srgbClr val="B45309"/>
          </a:solidFill>
        </p:spPr>
      </p:sp>
      <p:sp>
        <p:nvSpPr>
          <p:cNvPr id="1048652" name="Text 1"/>
          <p:cNvSpPr/>
          <p:nvPr/>
        </p:nvSpPr>
        <p:spPr>
          <a:xfrm>
            <a:off x="548640" y="164592"/>
            <a:ext cx="7315200" cy="320040"/>
          </a:xfrm>
          <a:prstGeom prst="rect"/>
          <a:noFill/>
        </p:spPr>
        <p:txBody>
          <a:bodyPr anchor="ctr" rtlCol="0" wrap="square"/>
          <a:p>
            <a:pPr indent="0" marL="0">
              <a:buNone/>
            </a:pPr>
            <a:r>
              <a:rPr b="1" dirty="0" sz="1300" kern="0" lang="en-US" spc="200">
                <a:solidFill>
                  <a:srgbClr val="FDF3E7"/>
                </a:solidFill>
                <a:latin typeface="Calibri" pitchFamily="34" charset="0"/>
                <a:ea typeface="Calibri" pitchFamily="34" charset="-122"/>
                <a:cs typeface="Calibri" pitchFamily="34" charset="-120"/>
              </a:rPr>
              <a:t>QUESTION 8   ·   5 MARKS</a:t>
            </a:r>
            <a:endParaRPr dirty="0" sz="1300" lang="en-US"/>
          </a:p>
        </p:txBody>
      </p:sp>
      <p:sp>
        <p:nvSpPr>
          <p:cNvPr id="1048653" name="Text 2"/>
          <p:cNvSpPr/>
          <p:nvPr/>
        </p:nvSpPr>
        <p:spPr>
          <a:xfrm>
            <a:off x="548640" y="457200"/>
            <a:ext cx="10972800" cy="548640"/>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Inductive Bias in Learning Algorithms</a:t>
            </a:r>
            <a:endParaRPr dirty="0" sz="2600" lang="en-US"/>
          </a:p>
        </p:txBody>
      </p:sp>
      <p:sp>
        <p:nvSpPr>
          <p:cNvPr id="1048654" name="Shape 3"/>
          <p:cNvSpPr/>
          <p:nvPr/>
        </p:nvSpPr>
        <p:spPr>
          <a:xfrm>
            <a:off x="548640" y="1325880"/>
            <a:ext cx="11064240" cy="914400"/>
          </a:xfrm>
          <a:prstGeom prst="roundRect">
            <a:avLst>
              <a:gd name="adj" fmla="val 8000"/>
            </a:avLst>
          </a:prstGeom>
          <a:solidFill>
            <a:srgbClr val="FDF3E7"/>
          </a:solidFill>
        </p:spPr>
      </p:sp>
      <p:sp>
        <p:nvSpPr>
          <p:cNvPr id="1048655" name="Text 4"/>
          <p:cNvSpPr/>
          <p:nvPr/>
        </p:nvSpPr>
        <p:spPr>
          <a:xfrm>
            <a:off x="777240" y="1417320"/>
            <a:ext cx="10607040" cy="777240"/>
          </a:xfrm>
          <a:prstGeom prst="rect"/>
          <a:noFill/>
        </p:spPr>
        <p:txBody>
          <a:bodyPr anchor="ctr" rtlCol="0" wrap="square"/>
          <a:p>
            <a:pPr indent="0" marL="0">
              <a:lnSpc>
                <a:spcPct val="125000"/>
              </a:lnSpc>
              <a:buNone/>
            </a:pPr>
            <a:r>
              <a:rPr b="1" dirty="0" sz="1250" i="1" lang="en-US">
                <a:solidFill>
                  <a:srgbClr val="B45309"/>
                </a:solidFill>
                <a:latin typeface="Calibri" pitchFamily="34" charset="0"/>
                <a:ea typeface="Calibri" pitchFamily="34" charset="-122"/>
                <a:cs typeface="Calibri" pitchFamily="34" charset="-120"/>
              </a:rPr>
              <a:t>Q: </a:t>
            </a:r>
            <a:r>
              <a:rPr dirty="0" sz="1250" i="1" lang="en-US">
                <a:solidFill>
                  <a:srgbClr val="1A1A1A"/>
                </a:solidFill>
                <a:latin typeface="Calibri" pitchFamily="34" charset="0"/>
                <a:ea typeface="Calibri" pitchFamily="34" charset="-122"/>
                <a:cs typeface="Calibri" pitchFamily="34" charset="-120"/>
              </a:rPr>
              <a:t>Define inductive bias and explain its significance. Discuss restriction bias and preference bias, and explain how inductive bias helps a learning algorithm generalize from limited data.</a:t>
            </a:r>
            <a:endParaRPr dirty="0" sz="1250" lang="en-US"/>
          </a:p>
        </p:txBody>
      </p:sp>
      <p:sp>
        <p:nvSpPr>
          <p:cNvPr id="1048656" name="Text 5"/>
          <p:cNvSpPr/>
          <p:nvPr/>
        </p:nvSpPr>
        <p:spPr>
          <a:xfrm>
            <a:off x="548640" y="2423160"/>
            <a:ext cx="5486400" cy="365760"/>
          </a:xfrm>
          <a:prstGeom prst="rect"/>
          <a:noFill/>
        </p:spPr>
        <p:txBody>
          <a:bodyPr anchor="ctr" rtlCol="0" wrap="square"/>
          <a:p>
            <a:pPr indent="0" marL="0">
              <a:buNone/>
            </a:pPr>
            <a:r>
              <a:rPr b="1" dirty="0" sz="1600" lang="en-US">
                <a:solidFill>
                  <a:srgbClr val="1B2A4A"/>
                </a:solidFill>
                <a:latin typeface="Calibri" pitchFamily="34" charset="0"/>
                <a:ea typeface="Calibri" pitchFamily="34" charset="-122"/>
                <a:cs typeface="Calibri" pitchFamily="34" charset="-120"/>
              </a:rPr>
              <a:t>Why bias is necessary</a:t>
            </a:r>
            <a:endParaRPr dirty="0" sz="1600" lang="en-US"/>
          </a:p>
        </p:txBody>
      </p:sp>
      <p:sp>
        <p:nvSpPr>
          <p:cNvPr id="1048657" name="Text 6"/>
          <p:cNvSpPr/>
          <p:nvPr/>
        </p:nvSpPr>
        <p:spPr>
          <a:xfrm>
            <a:off x="548640" y="2834640"/>
            <a:ext cx="5486400" cy="1280160"/>
          </a:xfrm>
          <a:prstGeom prst="rect"/>
          <a:noFill/>
        </p:spPr>
        <p:txBody>
          <a:bodyPr anchor="ctr" rtlCol="0" wrap="square"/>
          <a:p>
            <a:pPr indent="0" marL="0">
              <a:lnSpc>
                <a:spcPct val="130000"/>
              </a:lnSpc>
              <a:buNone/>
            </a:pPr>
            <a:r>
              <a:rPr dirty="0" sz="1250" lang="en-US">
                <a:solidFill>
                  <a:srgbClr val="555555"/>
                </a:solidFill>
                <a:latin typeface="Calibri" pitchFamily="34" charset="0"/>
                <a:ea typeface="Calibri" pitchFamily="34" charset="-122"/>
                <a:cs typeface="Calibri" pitchFamily="34" charset="-120"/>
              </a:rPr>
              <a:t>A finite set of training examples is consistent with many hypotheses. Without extra assumptions, a learner has no principled way to prefer one over another for unseen data — this is the fundamental problem of induction.</a:t>
            </a:r>
            <a:endParaRPr dirty="0" sz="1250" lang="en-US"/>
          </a:p>
        </p:txBody>
      </p:sp>
      <p:sp>
        <p:nvSpPr>
          <p:cNvPr id="1048658" name="Shape 7"/>
          <p:cNvSpPr/>
          <p:nvPr/>
        </p:nvSpPr>
        <p:spPr>
          <a:xfrm>
            <a:off x="548640" y="4206240"/>
            <a:ext cx="5486400" cy="1280160"/>
          </a:xfrm>
          <a:prstGeom prst="roundRect">
            <a:avLst>
              <a:gd name="adj" fmla="val 5714"/>
            </a:avLst>
          </a:prstGeom>
          <a:solidFill>
            <a:srgbClr val="F4F6F8"/>
          </a:solidFill>
        </p:spPr>
      </p:sp>
      <p:sp>
        <p:nvSpPr>
          <p:cNvPr id="1048659" name="Text 8"/>
          <p:cNvSpPr/>
          <p:nvPr/>
        </p:nvSpPr>
        <p:spPr>
          <a:xfrm>
            <a:off x="777240" y="4315968"/>
            <a:ext cx="5029200" cy="274320"/>
          </a:xfrm>
          <a:prstGeom prst="rect"/>
          <a:noFill/>
        </p:spPr>
        <p:txBody>
          <a:bodyPr anchor="ctr" rtlCol="0" wrap="square"/>
          <a:p>
            <a:pPr indent="0" marL="0">
              <a:buNone/>
            </a:pPr>
            <a:r>
              <a:rPr b="1" dirty="0" sz="1200" lang="en-US">
                <a:solidFill>
                  <a:srgbClr val="1B2A4A"/>
                </a:solidFill>
                <a:latin typeface="Calibri" pitchFamily="34" charset="0"/>
                <a:ea typeface="Calibri" pitchFamily="34" charset="-122"/>
                <a:cs typeface="Calibri" pitchFamily="34" charset="-120"/>
              </a:rPr>
              <a:t>Definition (Mitchell)</a:t>
            </a:r>
            <a:endParaRPr dirty="0" sz="1200" lang="en-US"/>
          </a:p>
        </p:txBody>
      </p:sp>
      <p:sp>
        <p:nvSpPr>
          <p:cNvPr id="1048660" name="Text 9"/>
          <p:cNvSpPr/>
          <p:nvPr/>
        </p:nvSpPr>
        <p:spPr>
          <a:xfrm>
            <a:off x="777240" y="4572000"/>
            <a:ext cx="5029200" cy="822960"/>
          </a:xfrm>
          <a:prstGeom prst="rect"/>
          <a:noFill/>
        </p:spPr>
        <p:txBody>
          <a:bodyPr anchor="ctr" rtlCol="0" wrap="square"/>
          <a:p>
            <a:pPr indent="0" marL="0">
              <a:lnSpc>
                <a:spcPct val="120000"/>
              </a:lnSpc>
              <a:buNone/>
            </a:pPr>
            <a:r>
              <a:rPr dirty="0" sz="1100" i="1" lang="en-US">
                <a:solidFill>
                  <a:srgbClr val="555555"/>
                </a:solidFill>
                <a:latin typeface="Calibri" pitchFamily="34" charset="0"/>
                <a:ea typeface="Calibri" pitchFamily="34" charset="-122"/>
                <a:cs typeface="Calibri" pitchFamily="34" charset="-120"/>
              </a:rPr>
              <a:t>The inductive bias of a learner is the minimal set of assumptions B such that, together with the training data D, it deductively justifies each classification the learner makes on new instances.</a:t>
            </a:r>
            <a:endParaRPr dirty="0" sz="1100" lang="en-US"/>
          </a:p>
        </p:txBody>
      </p:sp>
      <p:sp>
        <p:nvSpPr>
          <p:cNvPr id="1048661" name="Shape 10"/>
          <p:cNvSpPr/>
          <p:nvPr/>
        </p:nvSpPr>
        <p:spPr>
          <a:xfrm>
            <a:off x="6400800" y="2423160"/>
            <a:ext cx="5212080" cy="3063240"/>
          </a:xfrm>
          <a:prstGeom prst="roundRect">
            <a:avLst>
              <a:gd name="adj" fmla="val 2388"/>
            </a:avLst>
          </a:prstGeom>
          <a:solidFill>
            <a:srgbClr val="1A1A1A"/>
          </a:solidFill>
        </p:spPr>
      </p:sp>
      <p:sp>
        <p:nvSpPr>
          <p:cNvPr id="1048662" name="Text 11"/>
          <p:cNvSpPr/>
          <p:nvPr/>
        </p:nvSpPr>
        <p:spPr>
          <a:xfrm>
            <a:off x="6629400" y="2606040"/>
            <a:ext cx="4754880" cy="365760"/>
          </a:xfrm>
          <a:prstGeom prst="rect"/>
          <a:noFill/>
        </p:spPr>
        <p:txBody>
          <a:bodyPr anchor="ctr" rtlCol="0" wrap="square"/>
          <a:p>
            <a:pPr indent="0" marL="0">
              <a:buNone/>
            </a:pPr>
            <a:r>
              <a:rPr b="1" dirty="0" sz="1300" lang="en-US">
                <a:solidFill>
                  <a:srgbClr val="FFD9A0"/>
                </a:solidFill>
                <a:latin typeface="Calibri" pitchFamily="34" charset="0"/>
                <a:ea typeface="Calibri" pitchFamily="34" charset="-122"/>
                <a:cs typeface="Calibri" pitchFamily="34" charset="-120"/>
              </a:rPr>
              <a:t>Formal Statement of Inductive Bias</a:t>
            </a:r>
            <a:endParaRPr dirty="0" sz="1300" lang="en-US"/>
          </a:p>
        </p:txBody>
      </p:sp>
      <p:sp>
        <p:nvSpPr>
          <p:cNvPr id="1048663" name="Text 12"/>
          <p:cNvSpPr/>
          <p:nvPr/>
        </p:nvSpPr>
        <p:spPr>
          <a:xfrm>
            <a:off x="6629400" y="3063240"/>
            <a:ext cx="4754880" cy="457200"/>
          </a:xfrm>
          <a:prstGeom prst="rect"/>
          <a:noFill/>
        </p:spPr>
        <p:txBody>
          <a:bodyPr anchor="ctr" rtlCol="0" wrap="square"/>
          <a:p>
            <a:pPr indent="0" marL="0">
              <a:buNone/>
            </a:pPr>
            <a:r>
              <a:rPr b="1" dirty="0" sz="1500" lang="en-US">
                <a:solidFill>
                  <a:srgbClr val="FFFFFF"/>
                </a:solidFill>
                <a:latin typeface="Consolas" pitchFamily="34" charset="0"/>
                <a:ea typeface="Consolas" pitchFamily="34" charset="-122"/>
                <a:cs typeface="Consolas" pitchFamily="34" charset="-120"/>
              </a:rPr>
              <a:t>(∀ xi ∈ D) (B ∧ D ∧ xi) ⊢ L(xi, D)</a:t>
            </a:r>
            <a:endParaRPr dirty="0" sz="1500" lang="en-US"/>
          </a:p>
        </p:txBody>
      </p:sp>
      <p:sp>
        <p:nvSpPr>
          <p:cNvPr id="1048664" name="Text 13"/>
          <p:cNvSpPr/>
          <p:nvPr/>
        </p:nvSpPr>
        <p:spPr>
          <a:xfrm>
            <a:off x="6629400" y="3657600"/>
            <a:ext cx="4754880" cy="1737360"/>
          </a:xfrm>
          <a:prstGeom prst="rect"/>
          <a:noFill/>
        </p:spPr>
        <p:txBody>
          <a:bodyPr anchor="ctr" rtlCol="0" wrap="square"/>
          <a:p>
            <a:pPr indent="0" marL="0">
              <a:lnSpc>
                <a:spcPct val="125000"/>
              </a:lnSpc>
              <a:buNone/>
            </a:pPr>
            <a:r>
              <a:rPr b="1" dirty="0" sz="1100" lang="en-US">
                <a:solidFill>
                  <a:srgbClr val="9FE8DE"/>
                </a:solidFill>
                <a:latin typeface="Calibri" pitchFamily="34" charset="0"/>
                <a:ea typeface="Calibri" pitchFamily="34" charset="-122"/>
                <a:cs typeface="Calibri" pitchFamily="34" charset="-120"/>
              </a:rPr>
              <a:t>L(xi, D)</a:t>
            </a:r>
            <a:r>
              <a:rPr dirty="0" sz="1100" lang="en-US">
                <a:solidFill>
                  <a:srgbClr val="CFCFCF"/>
                </a:solidFill>
                <a:latin typeface="Calibri" pitchFamily="34" charset="0"/>
                <a:ea typeface="Calibri" pitchFamily="34" charset="-122"/>
                <a:cs typeface="Calibri" pitchFamily="34" charset="-120"/>
              </a:rPr>
              <a:t> = classification assigned to instance xi by learner L after training on D
</a:t>
            </a:r>
            <a:r>
              <a:rPr b="1" dirty="0" sz="1100" lang="en-US">
                <a:solidFill>
                  <a:srgbClr val="9FE8DE"/>
                </a:solidFill>
                <a:latin typeface="Calibri" pitchFamily="34" charset="0"/>
                <a:ea typeface="Calibri" pitchFamily="34" charset="-122"/>
                <a:cs typeface="Calibri" pitchFamily="34" charset="-120"/>
              </a:rPr>
              <a:t>B</a:t>
            </a:r>
            <a:r>
              <a:rPr dirty="0" sz="1100" lang="en-US">
                <a:solidFill>
                  <a:srgbClr val="CFCFCF"/>
                </a:solidFill>
                <a:latin typeface="Calibri" pitchFamily="34" charset="0"/>
                <a:ea typeface="Calibri" pitchFamily="34" charset="-122"/>
                <a:cs typeface="Calibri" pitchFamily="34" charset="-120"/>
              </a:rPr>
              <a:t> = the inductive bias — background assumptions
</a:t>
            </a:r>
            <a:r>
              <a:rPr b="1" dirty="0" sz="1100" lang="en-US">
                <a:solidFill>
                  <a:srgbClr val="9FE8DE"/>
                </a:solidFill>
                <a:latin typeface="Calibri" pitchFamily="34" charset="0"/>
                <a:ea typeface="Calibri" pitchFamily="34" charset="-122"/>
                <a:cs typeface="Calibri" pitchFamily="34" charset="-120"/>
              </a:rPr>
              <a:t>⊢</a:t>
            </a:r>
            <a:r>
              <a:rPr dirty="0" sz="1100" lang="en-US">
                <a:solidFill>
                  <a:srgbClr val="CFCFCF"/>
                </a:solidFill>
                <a:latin typeface="Calibri" pitchFamily="34" charset="0"/>
                <a:ea typeface="Calibri" pitchFamily="34" charset="-122"/>
                <a:cs typeface="Calibri" pitchFamily="34" charset="-120"/>
              </a:rPr>
              <a:t>  = logically/deductively entails</a:t>
            </a:r>
            <a:endParaRPr dirty="0" sz="1100" lang="en-US"/>
          </a:p>
        </p:txBody>
      </p:sp>
      <p:sp>
        <p:nvSpPr>
          <p:cNvPr id="1048665" name="Text 14"/>
          <p:cNvSpPr/>
          <p:nvPr/>
        </p:nvSpPr>
        <p:spPr>
          <a:xfrm>
            <a:off x="457200" y="6537960"/>
            <a:ext cx="5486400" cy="274320"/>
          </a:xfrm>
          <a:prstGeom prst="rect"/>
          <a:noFill/>
        </p:spPr>
        <p:txBody>
          <a:bodyPr anchor="ctr" rtlCol="0" wrap="square"/>
          <a:p>
            <a:pPr indent="0" marL="0">
              <a:buNone/>
            </a:pPr>
            <a:r>
              <a:rPr dirty="0" sz="1000" lang="en-US">
                <a:solidFill>
                  <a:srgbClr val="999999"/>
                </a:solidFill>
                <a:latin typeface="Calibri" pitchFamily="34" charset="0"/>
                <a:ea typeface="Calibri" pitchFamily="34" charset="-122"/>
                <a:cs typeface="Calibri" pitchFamily="34" charset="-120"/>
              </a:rPr>
              <a:t>ITA 06 — Machine Learning  |  CO1</a:t>
            </a:r>
            <a:endParaRPr dirty="0" sz="1000" lang="en-US"/>
          </a:p>
        </p:txBody>
      </p:sp>
      <p:sp>
        <p:nvSpPr>
          <p:cNvPr id="1048666" name="Text 15"/>
          <p:cNvSpPr/>
          <p:nvPr/>
        </p:nvSpPr>
        <p:spPr>
          <a:xfrm>
            <a:off x="11521440" y="6537960"/>
            <a:ext cx="457200" cy="274320"/>
          </a:xfrm>
          <a:prstGeom prst="rect"/>
          <a:noFill/>
        </p:spPr>
        <p:txBody>
          <a:bodyPr anchor="ctr" rtlCol="0" wrap="square"/>
          <a:p>
            <a:pPr algn="r" indent="0" marL="0">
              <a:buNone/>
            </a:pPr>
            <a:r>
              <a:rPr dirty="0" sz="1000" lang="en-US">
                <a:solidFill>
                  <a:srgbClr val="999999"/>
                </a:solidFill>
                <a:latin typeface="Calibri" pitchFamily="34" charset="0"/>
                <a:ea typeface="Calibri" pitchFamily="34" charset="-122"/>
                <a:cs typeface="Calibri" pitchFamily="34" charset="-120"/>
              </a:rPr>
              <a:t>5</a:t>
            </a:r>
            <a:endParaRPr dirty="0" sz="10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29" name=""/>
        <p:cNvGrpSpPr/>
        <p:nvPr/>
      </p:nvGrpSpPr>
      <p:grpSpPr>
        <a:xfrm>
          <a:off x="0" y="0"/>
          <a:ext cx="0" cy="0"/>
          <a:chOff x="0" y="0"/>
          <a:chExt cx="0" cy="0"/>
        </a:xfrm>
      </p:grpSpPr>
      <p:sp>
        <p:nvSpPr>
          <p:cNvPr id="1048670" name="Text 0"/>
          <p:cNvSpPr/>
          <p:nvPr/>
        </p:nvSpPr>
        <p:spPr>
          <a:xfrm>
            <a:off x="548640" y="365760"/>
            <a:ext cx="10972800" cy="502920"/>
          </a:xfrm>
          <a:prstGeom prst="rect"/>
          <a:noFill/>
        </p:spPr>
        <p:txBody>
          <a:bodyPr anchor="ctr" rtlCol="0" wrap="square"/>
          <a:p>
            <a:pPr indent="0" marL="0">
              <a:buNone/>
            </a:pPr>
            <a:r>
              <a:rPr b="1" dirty="0" sz="2600" lang="en-US">
                <a:solidFill>
                  <a:srgbClr val="1B2A4A"/>
                </a:solidFill>
                <a:latin typeface="Calibri" pitchFamily="34" charset="0"/>
                <a:ea typeface="Calibri" pitchFamily="34" charset="-122"/>
                <a:cs typeface="Calibri" pitchFamily="34" charset="-120"/>
              </a:rPr>
              <a:t>Restriction Bias vs. Preference Bias</a:t>
            </a:r>
            <a:endParaRPr dirty="0" sz="2600" lang="en-US"/>
          </a:p>
        </p:txBody>
      </p:sp>
      <p:sp>
        <p:nvSpPr>
          <p:cNvPr id="1048671" name="Shape 1"/>
          <p:cNvSpPr/>
          <p:nvPr/>
        </p:nvSpPr>
        <p:spPr>
          <a:xfrm>
            <a:off x="548640" y="914400"/>
            <a:ext cx="11064240" cy="0"/>
          </a:xfrm>
          <a:prstGeom prst="line"/>
          <a:noFill/>
          <a:ln w="12700">
            <a:solidFill>
              <a:srgbClr val="DDDDDD"/>
            </a:solidFill>
            <a:prstDash val="solid"/>
          </a:ln>
        </p:spPr>
      </p:sp>
      <p:sp>
        <p:nvSpPr>
          <p:cNvPr id="1048672" name="Shape 2"/>
          <p:cNvSpPr/>
          <p:nvPr/>
        </p:nvSpPr>
        <p:spPr>
          <a:xfrm>
            <a:off x="548640" y="1188720"/>
            <a:ext cx="5440680" cy="4114800"/>
          </a:xfrm>
          <a:prstGeom prst="roundRect">
            <a:avLst>
              <a:gd name="adj" fmla="val 1778"/>
            </a:avLst>
          </a:prstGeom>
          <a:solidFill>
            <a:srgbClr val="FDF3E7"/>
          </a:solidFill>
        </p:spPr>
      </p:sp>
      <p:sp>
        <p:nvSpPr>
          <p:cNvPr id="1048673" name="Text 3"/>
          <p:cNvSpPr/>
          <p:nvPr/>
        </p:nvSpPr>
        <p:spPr>
          <a:xfrm>
            <a:off x="777240" y="1325880"/>
            <a:ext cx="4937760" cy="365760"/>
          </a:xfrm>
          <a:prstGeom prst="rect"/>
          <a:noFill/>
        </p:spPr>
        <p:txBody>
          <a:bodyPr anchor="ctr" rtlCol="0" wrap="square"/>
          <a:p>
            <a:pPr indent="0" marL="0">
              <a:buNone/>
            </a:pPr>
            <a:r>
              <a:rPr b="1" dirty="0" sz="1600" lang="en-US">
                <a:solidFill>
                  <a:srgbClr val="B45309"/>
                </a:solidFill>
                <a:latin typeface="Calibri" pitchFamily="34" charset="0"/>
                <a:ea typeface="Calibri" pitchFamily="34" charset="-122"/>
                <a:cs typeface="Calibri" pitchFamily="34" charset="-120"/>
              </a:rPr>
              <a:t>Restriction Bias</a:t>
            </a:r>
            <a:endParaRPr dirty="0" sz="1600" lang="en-US"/>
          </a:p>
        </p:txBody>
      </p:sp>
      <p:sp>
        <p:nvSpPr>
          <p:cNvPr id="1048674" name="Text 4"/>
          <p:cNvSpPr/>
          <p:nvPr/>
        </p:nvSpPr>
        <p:spPr>
          <a:xfrm>
            <a:off x="777240" y="1737360"/>
            <a:ext cx="4937760" cy="685800"/>
          </a:xfrm>
          <a:prstGeom prst="rect"/>
          <a:noFill/>
        </p:spPr>
        <p:txBody>
          <a:bodyPr anchor="ctr" rtlCol="0" wrap="square"/>
          <a:p>
            <a:pPr indent="0" marL="0">
              <a:lnSpc>
                <a:spcPct val="130000"/>
              </a:lnSpc>
              <a:buNone/>
            </a:pPr>
            <a:r>
              <a:rPr dirty="0" sz="1250" lang="en-US">
                <a:solidFill>
                  <a:srgbClr val="1A1A1A"/>
                </a:solidFill>
                <a:latin typeface="Calibri" pitchFamily="34" charset="0"/>
                <a:ea typeface="Calibri" pitchFamily="34" charset="-122"/>
                <a:cs typeface="Calibri" pitchFamily="34" charset="-120"/>
              </a:rPr>
              <a:t>Limits the hypothesis space H itself to a restricted subset of all possible hypotheses.</a:t>
            </a:r>
            <a:endParaRPr dirty="0" sz="1250" lang="en-US"/>
          </a:p>
        </p:txBody>
      </p:sp>
      <p:sp>
        <p:nvSpPr>
          <p:cNvPr id="1048675" name="Text 5"/>
          <p:cNvSpPr/>
          <p:nvPr/>
        </p:nvSpPr>
        <p:spPr>
          <a:xfrm>
            <a:off x="777240" y="2468880"/>
            <a:ext cx="2743200" cy="274320"/>
          </a:xfrm>
          <a:prstGeom prst="rect"/>
          <a:noFill/>
        </p:spPr>
        <p:txBody>
          <a:bodyPr anchor="ctr" rtlCol="0" wrap="square"/>
          <a:p>
            <a:pPr indent="0" marL="0">
              <a:buNone/>
            </a:pPr>
            <a:r>
              <a:rPr b="1" dirty="0" sz="1100" lang="en-US">
                <a:solidFill>
                  <a:srgbClr val="B45309"/>
                </a:solidFill>
                <a:latin typeface="Calibri" pitchFamily="34" charset="0"/>
                <a:ea typeface="Calibri" pitchFamily="34" charset="-122"/>
                <a:cs typeface="Calibri" pitchFamily="34" charset="-120"/>
              </a:rPr>
              <a:t>Example</a:t>
            </a:r>
            <a:endParaRPr dirty="0" sz="1100" lang="en-US"/>
          </a:p>
        </p:txBody>
      </p:sp>
      <p:sp>
        <p:nvSpPr>
          <p:cNvPr id="1048676" name="Text 6"/>
          <p:cNvSpPr/>
          <p:nvPr/>
        </p:nvSpPr>
        <p:spPr>
          <a:xfrm>
            <a:off x="777240" y="2743200"/>
            <a:ext cx="4937760" cy="914400"/>
          </a:xfrm>
          <a:prstGeom prst="rect"/>
          <a:noFill/>
        </p:spPr>
        <p:txBody>
          <a:bodyPr anchor="ctr" rtlCol="0" wrap="square"/>
          <a:p>
            <a:pPr indent="0" marL="0">
              <a:lnSpc>
                <a:spcPct val="125000"/>
              </a:lnSpc>
              <a:buNone/>
            </a:pPr>
            <a:r>
              <a:rPr dirty="0" sz="1150" i="1" lang="en-US">
                <a:solidFill>
                  <a:srgbClr val="555555"/>
                </a:solidFill>
                <a:latin typeface="Calibri" pitchFamily="34" charset="0"/>
                <a:ea typeface="Calibri" pitchFamily="34" charset="-122"/>
                <a:cs typeface="Calibri" pitchFamily="34" charset="-120"/>
              </a:rPr>
              <a:t>Candidate-Elimination only considers conjunctive hypotheses — it structurally cannot represent a disjunctive concept, even if that concept fits the data.</a:t>
            </a:r>
            <a:endParaRPr dirty="0" sz="1150" lang="en-US"/>
          </a:p>
        </p:txBody>
      </p:sp>
      <p:sp>
        <p:nvSpPr>
          <p:cNvPr id="1048677" name="Shape 7"/>
          <p:cNvSpPr/>
          <p:nvPr/>
        </p:nvSpPr>
        <p:spPr>
          <a:xfrm>
            <a:off x="777240" y="3794760"/>
            <a:ext cx="4709160" cy="0"/>
          </a:xfrm>
          <a:prstGeom prst="line"/>
          <a:noFill/>
          <a:ln w="12700">
            <a:solidFill>
              <a:srgbClr val="E0C088"/>
            </a:solidFill>
            <a:prstDash val="solid"/>
          </a:ln>
        </p:spPr>
      </p:sp>
      <p:sp>
        <p:nvSpPr>
          <p:cNvPr id="1048678" name="Text 8"/>
          <p:cNvSpPr/>
          <p:nvPr/>
        </p:nvSpPr>
        <p:spPr>
          <a:xfrm>
            <a:off x="777240" y="3977640"/>
            <a:ext cx="4937760" cy="640080"/>
          </a:xfrm>
          <a:prstGeom prst="rect"/>
          <a:noFill/>
        </p:spPr>
        <p:txBody>
          <a:bodyPr anchor="ctr" rtlCol="0" wrap="square"/>
          <a:p>
            <a:pPr indent="0" marL="0">
              <a:buNone/>
            </a:pPr>
            <a:r>
              <a:rPr b="1" dirty="0" sz="1150" lang="en-US">
                <a:solidFill>
                  <a:srgbClr val="B45309"/>
                </a:solidFill>
                <a:latin typeface="Calibri" pitchFamily="34" charset="0"/>
                <a:ea typeface="Calibri" pitchFamily="34" charset="-122"/>
                <a:cs typeface="Calibri" pitchFamily="34" charset="-120"/>
              </a:rPr>
              <a:t>Effect: some target concepts are unreachable, no matter the data.</a:t>
            </a:r>
            <a:endParaRPr dirty="0" sz="1150" lang="en-US"/>
          </a:p>
        </p:txBody>
      </p:sp>
      <p:sp>
        <p:nvSpPr>
          <p:cNvPr id="1048679" name="Text 9"/>
          <p:cNvSpPr/>
          <p:nvPr/>
        </p:nvSpPr>
        <p:spPr>
          <a:xfrm>
            <a:off x="777240" y="4572000"/>
            <a:ext cx="4937760" cy="548640"/>
          </a:xfrm>
          <a:prstGeom prst="rect"/>
          <a:noFill/>
        </p:spPr>
        <p:txBody>
          <a:bodyPr anchor="ctr" rtlCol="0" wrap="square"/>
          <a:p>
            <a:pPr indent="0" marL="0">
              <a:buNone/>
            </a:pPr>
            <a:r>
              <a:rPr dirty="0" sz="1100" lang="en-US">
                <a:solidFill>
                  <a:srgbClr val="555555"/>
                </a:solidFill>
                <a:latin typeface="Calibri" pitchFamily="34" charset="0"/>
                <a:ea typeface="Calibri" pitchFamily="34" charset="-122"/>
                <a:cs typeface="Calibri" pitchFamily="34" charset="-120"/>
              </a:rPr>
              <a:t>Also called "language bias" — the bias is built into what the learner can even express.</a:t>
            </a:r>
            <a:endParaRPr dirty="0" sz="1100" lang="en-US"/>
          </a:p>
        </p:txBody>
      </p:sp>
      <p:sp>
        <p:nvSpPr>
          <p:cNvPr id="1048680" name="Shape 10"/>
          <p:cNvSpPr/>
          <p:nvPr/>
        </p:nvSpPr>
        <p:spPr>
          <a:xfrm>
            <a:off x="6172200" y="1188720"/>
            <a:ext cx="5440680" cy="4114800"/>
          </a:xfrm>
          <a:prstGeom prst="roundRect">
            <a:avLst>
              <a:gd name="adj" fmla="val 1778"/>
            </a:avLst>
          </a:prstGeom>
          <a:solidFill>
            <a:srgbClr val="E6F4F2"/>
          </a:solidFill>
        </p:spPr>
      </p:sp>
      <p:sp>
        <p:nvSpPr>
          <p:cNvPr id="1048681" name="Text 11"/>
          <p:cNvSpPr/>
          <p:nvPr/>
        </p:nvSpPr>
        <p:spPr>
          <a:xfrm>
            <a:off x="6400800" y="1325880"/>
            <a:ext cx="4937760" cy="365760"/>
          </a:xfrm>
          <a:prstGeom prst="rect"/>
          <a:noFill/>
        </p:spPr>
        <p:txBody>
          <a:bodyPr anchor="ctr" rtlCol="0" wrap="square"/>
          <a:p>
            <a:pPr indent="0" marL="0">
              <a:buNone/>
            </a:pPr>
            <a:r>
              <a:rPr b="1" dirty="0" sz="1600" lang="en-US">
                <a:solidFill>
                  <a:srgbClr val="0F766E"/>
                </a:solidFill>
                <a:latin typeface="Calibri" pitchFamily="34" charset="0"/>
                <a:ea typeface="Calibri" pitchFamily="34" charset="-122"/>
                <a:cs typeface="Calibri" pitchFamily="34" charset="-120"/>
              </a:rPr>
              <a:t>Preference Bias</a:t>
            </a:r>
            <a:endParaRPr dirty="0" sz="1600" lang="en-US"/>
          </a:p>
        </p:txBody>
      </p:sp>
      <p:sp>
        <p:nvSpPr>
          <p:cNvPr id="1048682" name="Text 12"/>
          <p:cNvSpPr/>
          <p:nvPr/>
        </p:nvSpPr>
        <p:spPr>
          <a:xfrm>
            <a:off x="6400800" y="1737360"/>
            <a:ext cx="4937760" cy="685800"/>
          </a:xfrm>
          <a:prstGeom prst="rect"/>
          <a:noFill/>
        </p:spPr>
        <p:txBody>
          <a:bodyPr anchor="ctr" rtlCol="0" wrap="square"/>
          <a:p>
            <a:pPr indent="0" marL="0">
              <a:lnSpc>
                <a:spcPct val="130000"/>
              </a:lnSpc>
              <a:buNone/>
            </a:pPr>
            <a:r>
              <a:rPr dirty="0" sz="1250" lang="en-US">
                <a:solidFill>
                  <a:srgbClr val="1A1A1A"/>
                </a:solidFill>
                <a:latin typeface="Calibri" pitchFamily="34" charset="0"/>
                <a:ea typeface="Calibri" pitchFamily="34" charset="-122"/>
                <a:cs typeface="Calibri" pitchFamily="34" charset="-120"/>
              </a:rPr>
              <a:t>Keeps the full hypothesis space, but the search strategy prefers certain hypotheses over others.</a:t>
            </a:r>
            <a:endParaRPr dirty="0" sz="1250" lang="en-US"/>
          </a:p>
        </p:txBody>
      </p:sp>
      <p:sp>
        <p:nvSpPr>
          <p:cNvPr id="1048683" name="Text 13"/>
          <p:cNvSpPr/>
          <p:nvPr/>
        </p:nvSpPr>
        <p:spPr>
          <a:xfrm>
            <a:off x="6400800" y="2468880"/>
            <a:ext cx="2743200" cy="274320"/>
          </a:xfrm>
          <a:prstGeom prst="rect"/>
          <a:noFill/>
        </p:spPr>
        <p:txBody>
          <a:bodyPr anchor="ctr" rtlCol="0" wrap="square"/>
          <a:p>
            <a:pPr indent="0" marL="0">
              <a:buNone/>
            </a:pPr>
            <a:r>
              <a:rPr b="1" dirty="0" sz="1100" lang="en-US">
                <a:solidFill>
                  <a:srgbClr val="0F766E"/>
                </a:solidFill>
                <a:latin typeface="Calibri" pitchFamily="34" charset="0"/>
                <a:ea typeface="Calibri" pitchFamily="34" charset="-122"/>
                <a:cs typeface="Calibri" pitchFamily="34" charset="-120"/>
              </a:rPr>
              <a:t>Example</a:t>
            </a:r>
            <a:endParaRPr dirty="0" sz="1100" lang="en-US"/>
          </a:p>
        </p:txBody>
      </p:sp>
      <p:sp>
        <p:nvSpPr>
          <p:cNvPr id="1048684" name="Text 14"/>
          <p:cNvSpPr/>
          <p:nvPr/>
        </p:nvSpPr>
        <p:spPr>
          <a:xfrm>
            <a:off x="6400800" y="2743200"/>
            <a:ext cx="4937760" cy="914400"/>
          </a:xfrm>
          <a:prstGeom prst="rect"/>
          <a:noFill/>
        </p:spPr>
        <p:txBody>
          <a:bodyPr anchor="ctr" rtlCol="0" wrap="square"/>
          <a:p>
            <a:pPr indent="0" marL="0">
              <a:lnSpc>
                <a:spcPct val="125000"/>
              </a:lnSpc>
              <a:buNone/>
            </a:pPr>
            <a:r>
              <a:rPr dirty="0" sz="1150" i="1" lang="en-US">
                <a:solidFill>
                  <a:srgbClr val="555555"/>
                </a:solidFill>
                <a:latin typeface="Calibri" pitchFamily="34" charset="0"/>
                <a:ea typeface="Calibri" pitchFamily="34" charset="-122"/>
                <a:cs typeface="Calibri" pitchFamily="34" charset="-120"/>
              </a:rPr>
              <a:t>ID3's preference for shorter trees and high information-gain splits near the root (an approximation of Occam's Razor).</a:t>
            </a:r>
            <a:endParaRPr dirty="0" sz="1150" lang="en-US"/>
          </a:p>
        </p:txBody>
      </p:sp>
      <p:sp>
        <p:nvSpPr>
          <p:cNvPr id="1048685" name="Shape 15"/>
          <p:cNvSpPr/>
          <p:nvPr/>
        </p:nvSpPr>
        <p:spPr>
          <a:xfrm>
            <a:off x="6400800" y="3794760"/>
            <a:ext cx="4709160" cy="0"/>
          </a:xfrm>
          <a:prstGeom prst="line"/>
          <a:noFill/>
          <a:ln w="12700">
            <a:solidFill>
              <a:srgbClr val="9FCFC9"/>
            </a:solidFill>
            <a:prstDash val="solid"/>
          </a:ln>
        </p:spPr>
      </p:sp>
      <p:sp>
        <p:nvSpPr>
          <p:cNvPr id="1048686" name="Text 16"/>
          <p:cNvSpPr/>
          <p:nvPr/>
        </p:nvSpPr>
        <p:spPr>
          <a:xfrm>
            <a:off x="6400800" y="3977640"/>
            <a:ext cx="4937760" cy="640080"/>
          </a:xfrm>
          <a:prstGeom prst="rect"/>
          <a:noFill/>
        </p:spPr>
        <p:txBody>
          <a:bodyPr anchor="ctr" rtlCol="0" wrap="square"/>
          <a:p>
            <a:pPr indent="0" marL="0">
              <a:buNone/>
            </a:pPr>
            <a:r>
              <a:rPr b="1" dirty="0" sz="1150" lang="en-US">
                <a:solidFill>
                  <a:srgbClr val="0F766E"/>
                </a:solidFill>
                <a:latin typeface="Calibri" pitchFamily="34" charset="0"/>
                <a:ea typeface="Calibri" pitchFamily="34" charset="-122"/>
                <a:cs typeface="Calibri" pitchFamily="34" charset="-120"/>
              </a:rPr>
              <a:t>Effect: every concept in H is still reachable — some are just found first.</a:t>
            </a:r>
            <a:endParaRPr dirty="0" sz="1150" lang="en-US"/>
          </a:p>
        </p:txBody>
      </p:sp>
      <p:sp>
        <p:nvSpPr>
          <p:cNvPr id="1048687" name="Text 17"/>
          <p:cNvSpPr/>
          <p:nvPr/>
        </p:nvSpPr>
        <p:spPr>
          <a:xfrm>
            <a:off x="6400800" y="4572000"/>
            <a:ext cx="4937760" cy="548640"/>
          </a:xfrm>
          <a:prstGeom prst="rect"/>
          <a:noFill/>
        </p:spPr>
        <p:txBody>
          <a:bodyPr anchor="ctr" rtlCol="0" wrap="square"/>
          <a:p>
            <a:pPr indent="0" marL="0">
              <a:buNone/>
            </a:pPr>
            <a:r>
              <a:rPr dirty="0" sz="1100" lang="en-US">
                <a:solidFill>
                  <a:srgbClr val="555555"/>
                </a:solidFill>
                <a:latin typeface="Calibri" pitchFamily="34" charset="0"/>
                <a:ea typeface="Calibri" pitchFamily="34" charset="-122"/>
                <a:cs typeface="Calibri" pitchFamily="34" charset="-120"/>
              </a:rPr>
              <a:t>Also called "search bias" — the bias lives in the order of hypothesis exploration.</a:t>
            </a:r>
            <a:endParaRPr dirty="0" sz="1100" lang="en-US"/>
          </a:p>
        </p:txBody>
      </p:sp>
      <p:sp>
        <p:nvSpPr>
          <p:cNvPr id="1048688" name="Text 18"/>
          <p:cNvSpPr/>
          <p:nvPr/>
        </p:nvSpPr>
        <p:spPr>
          <a:xfrm>
            <a:off x="457200" y="6537960"/>
            <a:ext cx="5486400" cy="274320"/>
          </a:xfrm>
          <a:prstGeom prst="rect"/>
          <a:noFill/>
        </p:spPr>
        <p:txBody>
          <a:bodyPr anchor="ctr" rtlCol="0" wrap="square"/>
          <a:p>
            <a:pPr indent="0" marL="0">
              <a:buNone/>
            </a:pPr>
            <a:r>
              <a:rPr dirty="0" sz="1000" lang="en-US">
                <a:solidFill>
                  <a:srgbClr val="999999"/>
                </a:solidFill>
                <a:latin typeface="Calibri" pitchFamily="34" charset="0"/>
                <a:ea typeface="Calibri" pitchFamily="34" charset="-122"/>
                <a:cs typeface="Calibri" pitchFamily="34" charset="-120"/>
              </a:rPr>
              <a:t>ITA 06 — Machine Learning  |  CO1</a:t>
            </a:r>
            <a:endParaRPr dirty="0" sz="1000" lang="en-US"/>
          </a:p>
        </p:txBody>
      </p:sp>
      <p:sp>
        <p:nvSpPr>
          <p:cNvPr id="1048689" name="Text 19"/>
          <p:cNvSpPr/>
          <p:nvPr/>
        </p:nvSpPr>
        <p:spPr>
          <a:xfrm>
            <a:off x="11521440" y="6537960"/>
            <a:ext cx="457200" cy="274320"/>
          </a:xfrm>
          <a:prstGeom prst="rect"/>
          <a:noFill/>
        </p:spPr>
        <p:txBody>
          <a:bodyPr anchor="ctr" rtlCol="0" wrap="square"/>
          <a:p>
            <a:pPr algn="r" indent="0" marL="0">
              <a:buNone/>
            </a:pPr>
            <a:r>
              <a:rPr dirty="0" sz="1000" lang="en-US">
                <a:solidFill>
                  <a:srgbClr val="999999"/>
                </a:solidFill>
                <a:latin typeface="Calibri" pitchFamily="34" charset="0"/>
                <a:ea typeface="Calibri" pitchFamily="34" charset="-122"/>
                <a:cs typeface="Calibri" pitchFamily="34" charset="-120"/>
              </a:rPr>
              <a:t>6</a:t>
            </a:r>
            <a:endParaRPr dirty="0" sz="10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32" name=""/>
        <p:cNvGrpSpPr/>
        <p:nvPr/>
      </p:nvGrpSpPr>
      <p:grpSpPr>
        <a:xfrm>
          <a:off x="0" y="0"/>
          <a:ext cx="0" cy="0"/>
          <a:chOff x="0" y="0"/>
          <a:chExt cx="0" cy="0"/>
        </a:xfrm>
      </p:grpSpPr>
      <p:sp>
        <p:nvSpPr>
          <p:cNvPr id="1048693" name="Shape 0"/>
          <p:cNvSpPr/>
          <p:nvPr/>
        </p:nvSpPr>
        <p:spPr>
          <a:xfrm>
            <a:off x="0" y="0"/>
            <a:ext cx="12188952" cy="1051560"/>
          </a:xfrm>
          <a:prstGeom prst="rect"/>
          <a:solidFill>
            <a:srgbClr val="1B2A4A"/>
          </a:solidFill>
        </p:spPr>
      </p:sp>
      <p:sp>
        <p:nvSpPr>
          <p:cNvPr id="1048694" name="Text 1"/>
          <p:cNvSpPr/>
          <p:nvPr/>
        </p:nvSpPr>
        <p:spPr>
          <a:xfrm>
            <a:off x="548640" y="164592"/>
            <a:ext cx="7315200" cy="320040"/>
          </a:xfrm>
          <a:prstGeom prst="rect"/>
          <a:noFill/>
        </p:spPr>
        <p:txBody>
          <a:bodyPr anchor="ctr" rtlCol="0" wrap="square"/>
          <a:p>
            <a:pPr indent="0" marL="0">
              <a:buNone/>
            </a:pPr>
            <a:r>
              <a:rPr b="1" dirty="0" sz="1300" kern="0" lang="en-US" spc="200">
                <a:solidFill>
                  <a:srgbClr val="C7D4EA"/>
                </a:solidFill>
                <a:latin typeface="Calibri" pitchFamily="34" charset="0"/>
                <a:ea typeface="Calibri" pitchFamily="34" charset="-122"/>
                <a:cs typeface="Calibri" pitchFamily="34" charset="-120"/>
              </a:rPr>
              <a:t>QUESTION 9   ·   5 MARKS</a:t>
            </a:r>
            <a:endParaRPr dirty="0" sz="1300" lang="en-US"/>
          </a:p>
        </p:txBody>
      </p:sp>
      <p:sp>
        <p:nvSpPr>
          <p:cNvPr id="1048695" name="Text 2"/>
          <p:cNvSpPr/>
          <p:nvPr/>
        </p:nvSpPr>
        <p:spPr>
          <a:xfrm>
            <a:off x="548640" y="457200"/>
            <a:ext cx="10972800" cy="548640"/>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Decision Tree Learning and Representation</a:t>
            </a:r>
            <a:endParaRPr dirty="0" sz="2600" lang="en-US"/>
          </a:p>
        </p:txBody>
      </p:sp>
      <p:sp>
        <p:nvSpPr>
          <p:cNvPr id="1048696" name="Shape 3"/>
          <p:cNvSpPr/>
          <p:nvPr/>
        </p:nvSpPr>
        <p:spPr>
          <a:xfrm>
            <a:off x="548640" y="1325880"/>
            <a:ext cx="11064240" cy="914400"/>
          </a:xfrm>
          <a:prstGeom prst="roundRect">
            <a:avLst>
              <a:gd name="adj" fmla="val 8000"/>
            </a:avLst>
          </a:prstGeom>
          <a:solidFill>
            <a:srgbClr val="EEF1F8"/>
          </a:solidFill>
        </p:spPr>
      </p:sp>
      <p:sp>
        <p:nvSpPr>
          <p:cNvPr id="1048697" name="Text 4"/>
          <p:cNvSpPr/>
          <p:nvPr/>
        </p:nvSpPr>
        <p:spPr>
          <a:xfrm>
            <a:off x="777240" y="1417320"/>
            <a:ext cx="10607040" cy="777240"/>
          </a:xfrm>
          <a:prstGeom prst="rect"/>
          <a:noFill/>
        </p:spPr>
        <p:txBody>
          <a:bodyPr anchor="ctr" rtlCol="0" wrap="square"/>
          <a:p>
            <a:pPr indent="0" marL="0">
              <a:lnSpc>
                <a:spcPct val="125000"/>
              </a:lnSpc>
              <a:buNone/>
            </a:pPr>
            <a:r>
              <a:rPr b="1" dirty="0" sz="1250" i="1" lang="en-US">
                <a:solidFill>
                  <a:srgbClr val="1B2A4A"/>
                </a:solidFill>
                <a:latin typeface="Calibri" pitchFamily="34" charset="0"/>
                <a:ea typeface="Calibri" pitchFamily="34" charset="-122"/>
                <a:cs typeface="Calibri" pitchFamily="34" charset="-120"/>
              </a:rPr>
              <a:t>Q: </a:t>
            </a:r>
            <a:r>
              <a:rPr dirty="0" sz="1250" i="1" lang="en-US">
                <a:solidFill>
                  <a:srgbClr val="1A1A1A"/>
                </a:solidFill>
                <a:latin typeface="Calibri" pitchFamily="34" charset="0"/>
                <a:ea typeface="Calibri" pitchFamily="34" charset="-122"/>
                <a:cs typeface="Calibri" pitchFamily="34" charset="-120"/>
              </a:rPr>
              <a:t>Explain the working of decision tree learning algorithms and their representation of knowledge. Discuss entropy, information gain, and tree pruning. Highlight advantages and limitations.</a:t>
            </a:r>
            <a:endParaRPr dirty="0" sz="1250" lang="en-US"/>
          </a:p>
        </p:txBody>
      </p:sp>
      <p:sp>
        <p:nvSpPr>
          <p:cNvPr id="1048698" name="Text 5"/>
          <p:cNvSpPr/>
          <p:nvPr/>
        </p:nvSpPr>
        <p:spPr>
          <a:xfrm>
            <a:off x="548640" y="2423160"/>
            <a:ext cx="4572000" cy="320040"/>
          </a:xfrm>
          <a:prstGeom prst="rect"/>
          <a:noFill/>
        </p:spPr>
        <p:txBody>
          <a:bodyPr anchor="ctr" rtlCol="0" wrap="square"/>
          <a:p>
            <a:pPr indent="0" marL="0">
              <a:buNone/>
            </a:pPr>
            <a:r>
              <a:rPr b="1" dirty="0" sz="1500" lang="en-US">
                <a:solidFill>
                  <a:srgbClr val="1B2A4A"/>
                </a:solidFill>
                <a:latin typeface="Calibri" pitchFamily="34" charset="0"/>
                <a:ea typeface="Calibri" pitchFamily="34" charset="-122"/>
                <a:cs typeface="Calibri" pitchFamily="34" charset="-120"/>
              </a:rPr>
              <a:t>Representation</a:t>
            </a:r>
            <a:endParaRPr dirty="0" sz="1500" lang="en-US"/>
          </a:p>
        </p:txBody>
      </p:sp>
      <p:sp>
        <p:nvSpPr>
          <p:cNvPr id="1048699" name="Text 6"/>
          <p:cNvSpPr/>
          <p:nvPr/>
        </p:nvSpPr>
        <p:spPr>
          <a:xfrm>
            <a:off x="548640" y="2788920"/>
            <a:ext cx="5577840" cy="1737360"/>
          </a:xfrm>
          <a:prstGeom prst="rect"/>
          <a:noFill/>
        </p:spPr>
        <p:txBody>
          <a:bodyPr anchor="ctr" rtlCol="0" wrap="square"/>
          <a:p>
            <a:pPr indent="0" marL="0">
              <a:lnSpc>
                <a:spcPct val="135000"/>
              </a:lnSpc>
              <a:spcAft>
                <a:spcPts val="400"/>
              </a:spcAft>
              <a:buNone/>
            </a:pPr>
            <a:r>
              <a:rPr dirty="0" sz="1200" lang="en-US">
                <a:solidFill>
                  <a:srgbClr val="555555"/>
                </a:solidFill>
                <a:latin typeface="Calibri" pitchFamily="34" charset="0"/>
                <a:ea typeface="Calibri" pitchFamily="34" charset="-122"/>
                <a:cs typeface="Calibri" pitchFamily="34" charset="-120"/>
              </a:rPr>
              <a:t>• Each internal node tests one attribute
</a:t>
            </a:r>
            <a:r>
              <a:rPr dirty="0" sz="1200" lang="en-US">
                <a:solidFill>
                  <a:srgbClr val="555555"/>
                </a:solidFill>
                <a:latin typeface="Calibri" pitchFamily="34" charset="0"/>
                <a:ea typeface="Calibri" pitchFamily="34" charset="-122"/>
                <a:cs typeface="Calibri" pitchFamily="34" charset="-120"/>
              </a:rPr>
              <a:t>• Each branch corresponds to an attribute value
</a:t>
            </a:r>
            <a:r>
              <a:rPr dirty="0" sz="1200" lang="en-US">
                <a:solidFill>
                  <a:srgbClr val="555555"/>
                </a:solidFill>
                <a:latin typeface="Calibri" pitchFamily="34" charset="0"/>
                <a:ea typeface="Calibri" pitchFamily="34" charset="-122"/>
                <a:cs typeface="Calibri" pitchFamily="34" charset="-120"/>
              </a:rPr>
              <a:t>• Each leaf assigns a class label
</a:t>
            </a:r>
            <a:r>
              <a:rPr dirty="0" sz="1200" lang="en-US">
                <a:solidFill>
                  <a:srgbClr val="555555"/>
                </a:solidFill>
                <a:latin typeface="Calibri" pitchFamily="34" charset="0"/>
                <a:ea typeface="Calibri" pitchFamily="34" charset="-122"/>
                <a:cs typeface="Calibri" pitchFamily="34" charset="-120"/>
              </a:rPr>
              <a:t>• A path root→leaf = one conjunctive rule; the whole tree = disjunction of rules</a:t>
            </a:r>
            <a:endParaRPr dirty="0" sz="1200" lang="en-US"/>
          </a:p>
        </p:txBody>
      </p:sp>
      <p:sp>
        <p:nvSpPr>
          <p:cNvPr id="1048700" name="Shape 7"/>
          <p:cNvSpPr/>
          <p:nvPr/>
        </p:nvSpPr>
        <p:spPr>
          <a:xfrm>
            <a:off x="8503920" y="2468880"/>
            <a:ext cx="1371600" cy="548640"/>
          </a:xfrm>
          <a:prstGeom prst="ellipse"/>
          <a:solidFill>
            <a:srgbClr val="1B2A4A"/>
          </a:solidFill>
        </p:spPr>
      </p:sp>
      <p:sp>
        <p:nvSpPr>
          <p:cNvPr id="1048701" name="Text 8"/>
          <p:cNvSpPr/>
          <p:nvPr/>
        </p:nvSpPr>
        <p:spPr>
          <a:xfrm>
            <a:off x="8503920" y="2587752"/>
            <a:ext cx="1371600" cy="320040"/>
          </a:xfrm>
          <a:prstGeom prst="rect"/>
          <a:noFill/>
        </p:spPr>
        <p:txBody>
          <a:bodyPr anchor="ctr" rtlCol="0" wrap="square"/>
          <a:p>
            <a:pPr algn="ctr" indent="0" marL="0">
              <a:buNone/>
            </a:pPr>
            <a:r>
              <a:rPr b="1" dirty="0" sz="1050" lang="en-US">
                <a:solidFill>
                  <a:srgbClr val="FFFFFF"/>
                </a:solidFill>
                <a:latin typeface="Calibri" pitchFamily="34" charset="0"/>
                <a:ea typeface="Calibri" pitchFamily="34" charset="-122"/>
                <a:cs typeface="Calibri" pitchFamily="34" charset="-120"/>
              </a:rPr>
              <a:t>Outlook</a:t>
            </a:r>
            <a:endParaRPr dirty="0" sz="1050" lang="en-US"/>
          </a:p>
        </p:txBody>
      </p:sp>
      <p:sp>
        <p:nvSpPr>
          <p:cNvPr id="1048702" name="Shape 9"/>
          <p:cNvSpPr/>
          <p:nvPr/>
        </p:nvSpPr>
        <p:spPr>
          <a:xfrm>
            <a:off x="7589520" y="3017520"/>
            <a:ext cx="1554480" cy="502920"/>
          </a:xfrm>
          <a:prstGeom prst="line"/>
          <a:noFill/>
          <a:ln w="15240">
            <a:solidFill>
              <a:srgbClr val="999999"/>
            </a:solidFill>
            <a:prstDash val="solid"/>
          </a:ln>
        </p:spPr>
      </p:sp>
      <p:sp>
        <p:nvSpPr>
          <p:cNvPr id="1048703" name="Shape 10"/>
          <p:cNvSpPr/>
          <p:nvPr/>
        </p:nvSpPr>
        <p:spPr>
          <a:xfrm>
            <a:off x="9189720" y="3017520"/>
            <a:ext cx="0" cy="502920"/>
          </a:xfrm>
          <a:prstGeom prst="line"/>
          <a:noFill/>
          <a:ln w="15240">
            <a:solidFill>
              <a:srgbClr val="999999"/>
            </a:solidFill>
            <a:prstDash val="solid"/>
          </a:ln>
        </p:spPr>
      </p:sp>
      <p:sp>
        <p:nvSpPr>
          <p:cNvPr id="1048704" name="Shape 11"/>
          <p:cNvSpPr/>
          <p:nvPr/>
        </p:nvSpPr>
        <p:spPr>
          <a:xfrm>
            <a:off x="9189720" y="3017520"/>
            <a:ext cx="1463040" cy="502920"/>
          </a:xfrm>
          <a:prstGeom prst="line"/>
          <a:noFill/>
          <a:ln w="15240">
            <a:solidFill>
              <a:srgbClr val="999999"/>
            </a:solidFill>
            <a:prstDash val="solid"/>
          </a:ln>
        </p:spPr>
      </p:sp>
      <p:sp>
        <p:nvSpPr>
          <p:cNvPr id="1048705" name="Text 12"/>
          <p:cNvSpPr/>
          <p:nvPr/>
        </p:nvSpPr>
        <p:spPr>
          <a:xfrm>
            <a:off x="6903720" y="3063240"/>
            <a:ext cx="914400" cy="274320"/>
          </a:xfrm>
          <a:prstGeom prst="rect"/>
          <a:noFill/>
        </p:spPr>
        <p:txBody>
          <a:bodyPr anchor="ctr" rtlCol="0" wrap="square"/>
          <a:p>
            <a:pPr indent="0" marL="0">
              <a:buNone/>
            </a:pPr>
            <a:r>
              <a:rPr dirty="0" sz="900" i="1" lang="en-US">
                <a:solidFill>
                  <a:srgbClr val="777777"/>
                </a:solidFill>
                <a:latin typeface="Calibri" pitchFamily="34" charset="0"/>
                <a:ea typeface="Calibri" pitchFamily="34" charset="-122"/>
                <a:cs typeface="Calibri" pitchFamily="34" charset="-120"/>
              </a:rPr>
              <a:t>Sunny</a:t>
            </a:r>
            <a:endParaRPr dirty="0" sz="900" lang="en-US"/>
          </a:p>
        </p:txBody>
      </p:sp>
      <p:sp>
        <p:nvSpPr>
          <p:cNvPr id="1048706" name="Text 13"/>
          <p:cNvSpPr/>
          <p:nvPr/>
        </p:nvSpPr>
        <p:spPr>
          <a:xfrm>
            <a:off x="8778240" y="3063240"/>
            <a:ext cx="1005840" cy="274320"/>
          </a:xfrm>
          <a:prstGeom prst="rect"/>
          <a:noFill/>
        </p:spPr>
        <p:txBody>
          <a:bodyPr anchor="ctr" rtlCol="0" wrap="square"/>
          <a:p>
            <a:pPr indent="0" marL="0">
              <a:buNone/>
            </a:pPr>
            <a:r>
              <a:rPr dirty="0" sz="900" i="1" lang="en-US">
                <a:solidFill>
                  <a:srgbClr val="777777"/>
                </a:solidFill>
                <a:latin typeface="Calibri" pitchFamily="34" charset="0"/>
                <a:ea typeface="Calibri" pitchFamily="34" charset="-122"/>
                <a:cs typeface="Calibri" pitchFamily="34" charset="-120"/>
              </a:rPr>
              <a:t>Overcast</a:t>
            </a:r>
            <a:endParaRPr dirty="0" sz="900" lang="en-US"/>
          </a:p>
        </p:txBody>
      </p:sp>
      <p:sp>
        <p:nvSpPr>
          <p:cNvPr id="1048707" name="Text 14"/>
          <p:cNvSpPr/>
          <p:nvPr/>
        </p:nvSpPr>
        <p:spPr>
          <a:xfrm>
            <a:off x="10195560" y="3063240"/>
            <a:ext cx="822960" cy="274320"/>
          </a:xfrm>
          <a:prstGeom prst="rect"/>
          <a:noFill/>
        </p:spPr>
        <p:txBody>
          <a:bodyPr anchor="ctr" rtlCol="0" wrap="square"/>
          <a:p>
            <a:pPr indent="0" marL="0">
              <a:buNone/>
            </a:pPr>
            <a:r>
              <a:rPr dirty="0" sz="900" i="1" lang="en-US">
                <a:solidFill>
                  <a:srgbClr val="777777"/>
                </a:solidFill>
                <a:latin typeface="Calibri" pitchFamily="34" charset="0"/>
                <a:ea typeface="Calibri" pitchFamily="34" charset="-122"/>
                <a:cs typeface="Calibri" pitchFamily="34" charset="-120"/>
              </a:rPr>
              <a:t>Rain</a:t>
            </a:r>
            <a:endParaRPr dirty="0" sz="900" lang="en-US"/>
          </a:p>
        </p:txBody>
      </p:sp>
      <p:sp>
        <p:nvSpPr>
          <p:cNvPr id="1048708" name="Shape 15"/>
          <p:cNvSpPr/>
          <p:nvPr/>
        </p:nvSpPr>
        <p:spPr>
          <a:xfrm>
            <a:off x="6903720" y="3520440"/>
            <a:ext cx="1234440" cy="502920"/>
          </a:xfrm>
          <a:prstGeom prst="ellipse"/>
          <a:solidFill>
            <a:srgbClr val="0F766E"/>
          </a:solidFill>
        </p:spPr>
      </p:sp>
      <p:sp>
        <p:nvSpPr>
          <p:cNvPr id="1048709" name="Text 16"/>
          <p:cNvSpPr/>
          <p:nvPr/>
        </p:nvSpPr>
        <p:spPr>
          <a:xfrm>
            <a:off x="6903720" y="3639312"/>
            <a:ext cx="1234440" cy="274320"/>
          </a:xfrm>
          <a:prstGeom prst="rect"/>
          <a:noFill/>
        </p:spPr>
        <p:txBody>
          <a:bodyPr anchor="ctr" rtlCol="0" wrap="square"/>
          <a:p>
            <a:pPr algn="ctr" indent="0" marL="0">
              <a:buNone/>
            </a:pPr>
            <a:r>
              <a:rPr b="1" dirty="0" sz="950" lang="en-US">
                <a:solidFill>
                  <a:srgbClr val="FFFFFF"/>
                </a:solidFill>
                <a:latin typeface="Calibri" pitchFamily="34" charset="0"/>
                <a:ea typeface="Calibri" pitchFamily="34" charset="-122"/>
                <a:cs typeface="Calibri" pitchFamily="34" charset="-120"/>
              </a:rPr>
              <a:t>Humidity</a:t>
            </a:r>
            <a:endParaRPr dirty="0" sz="950" lang="en-US"/>
          </a:p>
        </p:txBody>
      </p:sp>
      <p:sp>
        <p:nvSpPr>
          <p:cNvPr id="1048710" name="Shape 17"/>
          <p:cNvSpPr/>
          <p:nvPr/>
        </p:nvSpPr>
        <p:spPr>
          <a:xfrm>
            <a:off x="8686800" y="3520440"/>
            <a:ext cx="1097280" cy="502920"/>
          </a:xfrm>
          <a:prstGeom prst="roundRect">
            <a:avLst>
              <a:gd name="adj" fmla="val 9091"/>
            </a:avLst>
          </a:prstGeom>
          <a:solidFill>
            <a:srgbClr val="2E7D32"/>
          </a:solidFill>
        </p:spPr>
      </p:sp>
      <p:sp>
        <p:nvSpPr>
          <p:cNvPr id="1048711" name="Text 18"/>
          <p:cNvSpPr/>
          <p:nvPr/>
        </p:nvSpPr>
        <p:spPr>
          <a:xfrm>
            <a:off x="8686800" y="3639312"/>
            <a:ext cx="1097280" cy="274320"/>
          </a:xfrm>
          <a:prstGeom prst="rect"/>
          <a:noFill/>
        </p:spPr>
        <p:txBody>
          <a:bodyPr anchor="ctr" rtlCol="0" wrap="square"/>
          <a:p>
            <a:pPr algn="ctr" indent="0" marL="0">
              <a:buNone/>
            </a:pPr>
            <a:r>
              <a:rPr b="1" dirty="0" sz="1050" lang="en-US">
                <a:solidFill>
                  <a:srgbClr val="FFFFFF"/>
                </a:solidFill>
                <a:latin typeface="Calibri" pitchFamily="34" charset="0"/>
                <a:ea typeface="Calibri" pitchFamily="34" charset="-122"/>
                <a:cs typeface="Calibri" pitchFamily="34" charset="-120"/>
              </a:rPr>
              <a:t>Yes</a:t>
            </a:r>
            <a:endParaRPr dirty="0" sz="1050" lang="en-US"/>
          </a:p>
        </p:txBody>
      </p:sp>
      <p:sp>
        <p:nvSpPr>
          <p:cNvPr id="1048712" name="Shape 19"/>
          <p:cNvSpPr/>
          <p:nvPr/>
        </p:nvSpPr>
        <p:spPr>
          <a:xfrm>
            <a:off x="10149840" y="3520440"/>
            <a:ext cx="1234440" cy="502920"/>
          </a:xfrm>
          <a:prstGeom prst="ellipse"/>
          <a:solidFill>
            <a:srgbClr val="B45309"/>
          </a:solidFill>
        </p:spPr>
      </p:sp>
      <p:sp>
        <p:nvSpPr>
          <p:cNvPr id="1048713" name="Text 20"/>
          <p:cNvSpPr/>
          <p:nvPr/>
        </p:nvSpPr>
        <p:spPr>
          <a:xfrm>
            <a:off x="10149840" y="3639312"/>
            <a:ext cx="1234440" cy="274320"/>
          </a:xfrm>
          <a:prstGeom prst="rect"/>
          <a:noFill/>
        </p:spPr>
        <p:txBody>
          <a:bodyPr anchor="ctr" rtlCol="0" wrap="square"/>
          <a:p>
            <a:pPr algn="ctr" indent="0" marL="0">
              <a:buNone/>
            </a:pPr>
            <a:r>
              <a:rPr b="1" dirty="0" sz="1000" lang="en-US">
                <a:solidFill>
                  <a:srgbClr val="FFFFFF"/>
                </a:solidFill>
                <a:latin typeface="Calibri" pitchFamily="34" charset="0"/>
                <a:ea typeface="Calibri" pitchFamily="34" charset="-122"/>
                <a:cs typeface="Calibri" pitchFamily="34" charset="-120"/>
              </a:rPr>
              <a:t>Wind</a:t>
            </a:r>
            <a:endParaRPr dirty="0" sz="1000" lang="en-US"/>
          </a:p>
        </p:txBody>
      </p:sp>
      <p:sp>
        <p:nvSpPr>
          <p:cNvPr id="1048714" name="Text 21"/>
          <p:cNvSpPr/>
          <p:nvPr/>
        </p:nvSpPr>
        <p:spPr>
          <a:xfrm>
            <a:off x="6903720" y="4160520"/>
            <a:ext cx="4572000" cy="365760"/>
          </a:xfrm>
          <a:prstGeom prst="rect"/>
          <a:noFill/>
        </p:spPr>
        <p:txBody>
          <a:bodyPr anchor="ctr" rtlCol="0" wrap="square"/>
          <a:p>
            <a:pPr indent="0" marL="0">
              <a:buNone/>
            </a:pPr>
            <a:r>
              <a:rPr dirty="0" sz="950" i="1" lang="en-US">
                <a:solidFill>
                  <a:srgbClr val="888888"/>
                </a:solidFill>
                <a:latin typeface="Calibri" pitchFamily="34" charset="0"/>
                <a:ea typeface="Calibri" pitchFamily="34" charset="-122"/>
                <a:cs typeface="Calibri" pitchFamily="34" charset="-120"/>
              </a:rPr>
              <a:t>Leaf nodes = class label (Yes/No)  ·  Internal nodes = attribute test</a:t>
            </a:r>
            <a:endParaRPr dirty="0" sz="950" lang="en-US"/>
          </a:p>
        </p:txBody>
      </p:sp>
      <p:sp>
        <p:nvSpPr>
          <p:cNvPr id="1048715" name="Shape 22"/>
          <p:cNvSpPr/>
          <p:nvPr/>
        </p:nvSpPr>
        <p:spPr>
          <a:xfrm>
            <a:off x="548640" y="4663440"/>
            <a:ext cx="11064240" cy="1463040"/>
          </a:xfrm>
          <a:prstGeom prst="roundRect">
            <a:avLst>
              <a:gd name="adj" fmla="val 5000"/>
            </a:avLst>
          </a:prstGeom>
          <a:solidFill>
            <a:srgbClr val="F4F6F8"/>
          </a:solidFill>
        </p:spPr>
      </p:sp>
      <p:sp>
        <p:nvSpPr>
          <p:cNvPr id="1048716" name="Text 23"/>
          <p:cNvSpPr/>
          <p:nvPr/>
        </p:nvSpPr>
        <p:spPr>
          <a:xfrm>
            <a:off x="777240" y="4800600"/>
            <a:ext cx="5486400" cy="320040"/>
          </a:xfrm>
          <a:prstGeom prst="rect"/>
          <a:noFill/>
        </p:spPr>
        <p:txBody>
          <a:bodyPr anchor="ctr" rtlCol="0" wrap="square"/>
          <a:p>
            <a:pPr indent="0" marL="0">
              <a:buNone/>
            </a:pPr>
            <a:r>
              <a:rPr b="1" dirty="0" sz="1300" lang="en-US">
                <a:solidFill>
                  <a:srgbClr val="1B2A4A"/>
                </a:solidFill>
                <a:latin typeface="Calibri" pitchFamily="34" charset="0"/>
                <a:ea typeface="Calibri" pitchFamily="34" charset="-122"/>
                <a:cs typeface="Calibri" pitchFamily="34" charset="-120"/>
              </a:rPr>
              <a:t>How it builds (ID3-style, top-down)</a:t>
            </a:r>
            <a:endParaRPr dirty="0" sz="1300" lang="en-US"/>
          </a:p>
        </p:txBody>
      </p:sp>
      <p:sp>
        <p:nvSpPr>
          <p:cNvPr id="1048717" name="Text 24"/>
          <p:cNvSpPr/>
          <p:nvPr/>
        </p:nvSpPr>
        <p:spPr>
          <a:xfrm>
            <a:off x="777240" y="5120640"/>
            <a:ext cx="10607040" cy="914400"/>
          </a:xfrm>
          <a:prstGeom prst="rect"/>
          <a:noFill/>
        </p:spPr>
        <p:txBody>
          <a:bodyPr anchor="ctr" rtlCol="0" wrap="square"/>
          <a:p>
            <a:pPr indent="0" marL="0">
              <a:lnSpc>
                <a:spcPct val="130000"/>
              </a:lnSpc>
              <a:buNone/>
            </a:pPr>
            <a:r>
              <a:rPr dirty="0" sz="1200" lang="en-US">
                <a:solidFill>
                  <a:srgbClr val="555555"/>
                </a:solidFill>
                <a:latin typeface="Calibri" pitchFamily="34" charset="0"/>
                <a:ea typeface="Calibri" pitchFamily="34" charset="-122"/>
                <a:cs typeface="Calibri" pitchFamily="34" charset="-120"/>
              </a:rPr>
              <a:t>At each node, select the attribute with the highest Information Gain to split on, partition the examples by its values, and recurse on each subset. Stop when a node is pure (all same class) or no attributes remain.</a:t>
            </a:r>
            <a:endParaRPr dirty="0" sz="1200" lang="en-US"/>
          </a:p>
        </p:txBody>
      </p:sp>
      <p:sp>
        <p:nvSpPr>
          <p:cNvPr id="1048718" name="Text 25"/>
          <p:cNvSpPr/>
          <p:nvPr/>
        </p:nvSpPr>
        <p:spPr>
          <a:xfrm>
            <a:off x="457200" y="6537960"/>
            <a:ext cx="5486400" cy="274320"/>
          </a:xfrm>
          <a:prstGeom prst="rect"/>
          <a:noFill/>
        </p:spPr>
        <p:txBody>
          <a:bodyPr anchor="ctr" rtlCol="0" wrap="square"/>
          <a:p>
            <a:pPr indent="0" marL="0">
              <a:buNone/>
            </a:pPr>
            <a:r>
              <a:rPr dirty="0" sz="1000" lang="en-US">
                <a:solidFill>
                  <a:srgbClr val="999999"/>
                </a:solidFill>
                <a:latin typeface="Calibri" pitchFamily="34" charset="0"/>
                <a:ea typeface="Calibri" pitchFamily="34" charset="-122"/>
                <a:cs typeface="Calibri" pitchFamily="34" charset="-120"/>
              </a:rPr>
              <a:t>ITA 06 — Machine Learning  |  CO1</a:t>
            </a:r>
            <a:endParaRPr dirty="0" sz="1000" lang="en-US"/>
          </a:p>
        </p:txBody>
      </p:sp>
      <p:sp>
        <p:nvSpPr>
          <p:cNvPr id="1048719" name="Text 26"/>
          <p:cNvSpPr/>
          <p:nvPr/>
        </p:nvSpPr>
        <p:spPr>
          <a:xfrm>
            <a:off x="11521440" y="6537960"/>
            <a:ext cx="457200" cy="274320"/>
          </a:xfrm>
          <a:prstGeom prst="rect"/>
          <a:noFill/>
        </p:spPr>
        <p:txBody>
          <a:bodyPr anchor="ctr" rtlCol="0" wrap="square"/>
          <a:p>
            <a:pPr algn="r" indent="0" marL="0">
              <a:buNone/>
            </a:pPr>
            <a:r>
              <a:rPr dirty="0" sz="1000" lang="en-US">
                <a:solidFill>
                  <a:srgbClr val="999999"/>
                </a:solidFill>
                <a:latin typeface="Calibri" pitchFamily="34" charset="0"/>
                <a:ea typeface="Calibri" pitchFamily="34" charset="-122"/>
                <a:cs typeface="Calibri" pitchFamily="34" charset="-120"/>
              </a:rPr>
              <a:t>7</a:t>
            </a:r>
            <a:endParaRPr dirty="0" sz="10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35" name=""/>
        <p:cNvGrpSpPr/>
        <p:nvPr/>
      </p:nvGrpSpPr>
      <p:grpSpPr>
        <a:xfrm>
          <a:off x="0" y="0"/>
          <a:ext cx="0" cy="0"/>
          <a:chOff x="0" y="0"/>
          <a:chExt cx="0" cy="0"/>
        </a:xfrm>
      </p:grpSpPr>
      <p:sp>
        <p:nvSpPr>
          <p:cNvPr id="1048723" name="Text 0"/>
          <p:cNvSpPr/>
          <p:nvPr/>
        </p:nvSpPr>
        <p:spPr>
          <a:xfrm>
            <a:off x="548640" y="365760"/>
            <a:ext cx="10972800" cy="502920"/>
          </a:xfrm>
          <a:prstGeom prst="rect"/>
          <a:noFill/>
        </p:spPr>
        <p:txBody>
          <a:bodyPr anchor="ctr" rtlCol="0" wrap="square"/>
          <a:p>
            <a:pPr indent="0" marL="0">
              <a:buNone/>
            </a:pPr>
            <a:r>
              <a:rPr b="1" dirty="0" sz="2600" lang="en-US">
                <a:solidFill>
                  <a:srgbClr val="1B2A4A"/>
                </a:solidFill>
                <a:latin typeface="Calibri" pitchFamily="34" charset="0"/>
                <a:ea typeface="Calibri" pitchFamily="34" charset="-122"/>
                <a:cs typeface="Calibri" pitchFamily="34" charset="-120"/>
              </a:rPr>
              <a:t>Entropy &amp; Information Gain</a:t>
            </a:r>
            <a:endParaRPr dirty="0" sz="2600" lang="en-US"/>
          </a:p>
        </p:txBody>
      </p:sp>
      <p:sp>
        <p:nvSpPr>
          <p:cNvPr id="1048724" name="Shape 1"/>
          <p:cNvSpPr/>
          <p:nvPr/>
        </p:nvSpPr>
        <p:spPr>
          <a:xfrm>
            <a:off x="548640" y="914400"/>
            <a:ext cx="11064240" cy="0"/>
          </a:xfrm>
          <a:prstGeom prst="line"/>
          <a:noFill/>
          <a:ln w="12700">
            <a:solidFill>
              <a:srgbClr val="DDDDDD"/>
            </a:solidFill>
            <a:prstDash val="solid"/>
          </a:ln>
        </p:spPr>
      </p:sp>
      <p:sp>
        <p:nvSpPr>
          <p:cNvPr id="1048725" name="Shape 2"/>
          <p:cNvSpPr/>
          <p:nvPr/>
        </p:nvSpPr>
        <p:spPr>
          <a:xfrm>
            <a:off x="548640" y="1143000"/>
            <a:ext cx="5440680" cy="2743200"/>
          </a:xfrm>
          <a:prstGeom prst="roundRect">
            <a:avLst>
              <a:gd name="adj" fmla="val 2667"/>
            </a:avLst>
          </a:prstGeom>
          <a:solidFill>
            <a:srgbClr val="1A1A1A"/>
          </a:solidFill>
        </p:spPr>
      </p:sp>
      <p:sp>
        <p:nvSpPr>
          <p:cNvPr id="1048726" name="Text 3"/>
          <p:cNvSpPr/>
          <p:nvPr/>
        </p:nvSpPr>
        <p:spPr>
          <a:xfrm>
            <a:off x="777240" y="1280160"/>
            <a:ext cx="4937760" cy="320040"/>
          </a:xfrm>
          <a:prstGeom prst="rect"/>
          <a:noFill/>
        </p:spPr>
        <p:txBody>
          <a:bodyPr anchor="ctr" rtlCol="0" wrap="square"/>
          <a:p>
            <a:pPr indent="0" marL="0">
              <a:buNone/>
            </a:pPr>
            <a:r>
              <a:rPr b="1" dirty="0" sz="1300" lang="en-US">
                <a:solidFill>
                  <a:srgbClr val="9FE8DE"/>
                </a:solidFill>
                <a:latin typeface="Calibri" pitchFamily="34" charset="0"/>
                <a:ea typeface="Calibri" pitchFamily="34" charset="-122"/>
                <a:cs typeface="Calibri" pitchFamily="34" charset="-120"/>
              </a:rPr>
              <a:t>Entropy — impurity of a set S</a:t>
            </a:r>
            <a:endParaRPr dirty="0" sz="1300" lang="en-US"/>
          </a:p>
        </p:txBody>
      </p:sp>
      <p:sp>
        <p:nvSpPr>
          <p:cNvPr id="1048727" name="Text 4"/>
          <p:cNvSpPr/>
          <p:nvPr/>
        </p:nvSpPr>
        <p:spPr>
          <a:xfrm>
            <a:off x="777240" y="1691640"/>
            <a:ext cx="4937760" cy="457200"/>
          </a:xfrm>
          <a:prstGeom prst="rect"/>
          <a:noFill/>
        </p:spPr>
        <p:txBody>
          <a:bodyPr anchor="ctr" rtlCol="0" wrap="square"/>
          <a:p>
            <a:pPr indent="0" marL="0">
              <a:buNone/>
            </a:pPr>
            <a:r>
              <a:rPr b="1" dirty="0" sz="1600" lang="en-US">
                <a:solidFill>
                  <a:srgbClr val="FFFFFF"/>
                </a:solidFill>
                <a:latin typeface="Consolas" pitchFamily="34" charset="0"/>
                <a:ea typeface="Consolas" pitchFamily="34" charset="-122"/>
                <a:cs typeface="Consolas" pitchFamily="34" charset="-120"/>
              </a:rPr>
              <a:t>Entropy(S) = − Σ pᵢ · log₂(pᵢ)</a:t>
            </a:r>
            <a:endParaRPr dirty="0" sz="1600" lang="en-US"/>
          </a:p>
        </p:txBody>
      </p:sp>
      <p:sp>
        <p:nvSpPr>
          <p:cNvPr id="1048728" name="Text 5"/>
          <p:cNvSpPr/>
          <p:nvPr/>
        </p:nvSpPr>
        <p:spPr>
          <a:xfrm>
            <a:off x="777240" y="2240280"/>
            <a:ext cx="4937760" cy="1554480"/>
          </a:xfrm>
          <a:prstGeom prst="rect"/>
          <a:noFill/>
        </p:spPr>
        <p:txBody>
          <a:bodyPr anchor="ctr" rtlCol="0" wrap="square"/>
          <a:p>
            <a:pPr indent="0" marL="0">
              <a:lnSpc>
                <a:spcPct val="130000"/>
              </a:lnSpc>
              <a:buNone/>
            </a:pPr>
            <a:r>
              <a:rPr b="1" dirty="0" sz="1150" lang="en-US">
                <a:solidFill>
                  <a:srgbClr val="FFD9A0"/>
                </a:solidFill>
                <a:latin typeface="Calibri" pitchFamily="34" charset="0"/>
                <a:ea typeface="Calibri" pitchFamily="34" charset="-122"/>
                <a:cs typeface="Calibri" pitchFamily="34" charset="-120"/>
              </a:rPr>
              <a:t>pᵢ</a:t>
            </a:r>
            <a:r>
              <a:rPr dirty="0" sz="1150" lang="en-US">
                <a:solidFill>
                  <a:srgbClr val="CFCFCF"/>
                </a:solidFill>
                <a:latin typeface="Calibri" pitchFamily="34" charset="0"/>
                <a:ea typeface="Calibri" pitchFamily="34" charset="-122"/>
                <a:cs typeface="Calibri" pitchFamily="34" charset="-120"/>
              </a:rPr>
              <a:t> = proportion of examples in S belonging to class i
</a:t>
            </a:r>
            <a:r>
              <a:rPr dirty="0" sz="1150" lang="en-US">
                <a:solidFill>
                  <a:srgbClr val="CFCFCF"/>
                </a:solidFill>
                <a:latin typeface="Calibri" pitchFamily="34" charset="0"/>
                <a:ea typeface="Calibri" pitchFamily="34" charset="-122"/>
                <a:cs typeface="Calibri" pitchFamily="34" charset="-120"/>
              </a:rPr>
              <a:t>Range: 0 (pure, all one class) to log₂(c) for c classes
</a:t>
            </a:r>
            <a:r>
              <a:rPr dirty="0" sz="1150" lang="en-US">
                <a:solidFill>
                  <a:srgbClr val="CFCFCF"/>
                </a:solidFill>
                <a:latin typeface="Calibri" pitchFamily="34" charset="0"/>
                <a:ea typeface="Calibri" pitchFamily="34" charset="-122"/>
                <a:cs typeface="Calibri" pitchFamily="34" charset="-120"/>
              </a:rPr>
              <a:t>Binary case max = 1 bit (50/50 split)</a:t>
            </a:r>
            <a:endParaRPr dirty="0" sz="1150" lang="en-US"/>
          </a:p>
        </p:txBody>
      </p:sp>
      <p:sp>
        <p:nvSpPr>
          <p:cNvPr id="1048729" name="Shape 6"/>
          <p:cNvSpPr/>
          <p:nvPr/>
        </p:nvSpPr>
        <p:spPr>
          <a:xfrm>
            <a:off x="6172200" y="1143000"/>
            <a:ext cx="5440680" cy="2743200"/>
          </a:xfrm>
          <a:prstGeom prst="roundRect">
            <a:avLst>
              <a:gd name="adj" fmla="val 2667"/>
            </a:avLst>
          </a:prstGeom>
          <a:solidFill>
            <a:srgbClr val="1A1A1A"/>
          </a:solidFill>
        </p:spPr>
      </p:sp>
      <p:sp>
        <p:nvSpPr>
          <p:cNvPr id="1048730" name="Text 7"/>
          <p:cNvSpPr/>
          <p:nvPr/>
        </p:nvSpPr>
        <p:spPr>
          <a:xfrm>
            <a:off x="6400800" y="1280160"/>
            <a:ext cx="4937760" cy="320040"/>
          </a:xfrm>
          <a:prstGeom prst="rect"/>
          <a:noFill/>
        </p:spPr>
        <p:txBody>
          <a:bodyPr anchor="ctr" rtlCol="0" wrap="square"/>
          <a:p>
            <a:pPr indent="0" marL="0">
              <a:buNone/>
            </a:pPr>
            <a:r>
              <a:rPr b="1" dirty="0" sz="1300" lang="en-US">
                <a:solidFill>
                  <a:srgbClr val="9FE8DE"/>
                </a:solidFill>
                <a:latin typeface="Calibri" pitchFamily="34" charset="0"/>
                <a:ea typeface="Calibri" pitchFamily="34" charset="-122"/>
                <a:cs typeface="Calibri" pitchFamily="34" charset="-120"/>
              </a:rPr>
              <a:t>Information Gain of attribute A</a:t>
            </a:r>
            <a:endParaRPr dirty="0" sz="1300" lang="en-US"/>
          </a:p>
        </p:txBody>
      </p:sp>
      <p:sp>
        <p:nvSpPr>
          <p:cNvPr id="1048731" name="Text 8"/>
          <p:cNvSpPr/>
          <p:nvPr/>
        </p:nvSpPr>
        <p:spPr>
          <a:xfrm>
            <a:off x="6400800" y="1691640"/>
            <a:ext cx="5029200" cy="548640"/>
          </a:xfrm>
          <a:prstGeom prst="rect"/>
          <a:noFill/>
        </p:spPr>
        <p:txBody>
          <a:bodyPr anchor="ctr" rtlCol="0" wrap="square"/>
          <a:p>
            <a:pPr indent="0" marL="0">
              <a:buNone/>
            </a:pPr>
            <a:r>
              <a:rPr b="1" dirty="0" sz="1350" lang="en-US">
                <a:solidFill>
                  <a:srgbClr val="FFFFFF"/>
                </a:solidFill>
                <a:latin typeface="Consolas" pitchFamily="34" charset="0"/>
                <a:ea typeface="Consolas" pitchFamily="34" charset="-122"/>
                <a:cs typeface="Consolas" pitchFamily="34" charset="-120"/>
              </a:rPr>
              <a:t>Gain(S,A) = Entropy(S) − Σ (|Sᵥ|/|S|)·Entropy(Sᵥ)</a:t>
            </a:r>
            <a:endParaRPr dirty="0" sz="1350" lang="en-US"/>
          </a:p>
        </p:txBody>
      </p:sp>
      <p:sp>
        <p:nvSpPr>
          <p:cNvPr id="1048732" name="Text 9"/>
          <p:cNvSpPr/>
          <p:nvPr/>
        </p:nvSpPr>
        <p:spPr>
          <a:xfrm>
            <a:off x="6400800" y="2286000"/>
            <a:ext cx="5029200" cy="1554480"/>
          </a:xfrm>
          <a:prstGeom prst="rect"/>
          <a:noFill/>
        </p:spPr>
        <p:txBody>
          <a:bodyPr anchor="ctr" rtlCol="0" wrap="square"/>
          <a:p>
            <a:pPr indent="0" marL="0">
              <a:lnSpc>
                <a:spcPct val="125000"/>
              </a:lnSpc>
              <a:buNone/>
            </a:pPr>
            <a:r>
              <a:rPr b="1" dirty="0" sz="1100" lang="en-US">
                <a:solidFill>
                  <a:srgbClr val="FFD9A0"/>
                </a:solidFill>
                <a:latin typeface="Calibri" pitchFamily="34" charset="0"/>
                <a:ea typeface="Calibri" pitchFamily="34" charset="-122"/>
                <a:cs typeface="Calibri" pitchFamily="34" charset="-120"/>
              </a:rPr>
              <a:t>v ∈ Values(A)</a:t>
            </a:r>
            <a:r>
              <a:rPr dirty="0" sz="1100" lang="en-US">
                <a:solidFill>
                  <a:srgbClr val="CFCFCF"/>
                </a:solidFill>
                <a:latin typeface="Calibri" pitchFamily="34" charset="0"/>
                <a:ea typeface="Calibri" pitchFamily="34" charset="-122"/>
                <a:cs typeface="Calibri" pitchFamily="34" charset="-120"/>
              </a:rPr>
              <a:t> — each value the attribute A can take
</a:t>
            </a:r>
            <a:r>
              <a:rPr b="1" dirty="0" sz="1100" lang="en-US">
                <a:solidFill>
                  <a:srgbClr val="FFD9A0"/>
                </a:solidFill>
                <a:latin typeface="Calibri" pitchFamily="34" charset="0"/>
                <a:ea typeface="Calibri" pitchFamily="34" charset="-122"/>
                <a:cs typeface="Calibri" pitchFamily="34" charset="-120"/>
              </a:rPr>
              <a:t>Sᵥ</a:t>
            </a:r>
            <a:r>
              <a:rPr dirty="0" sz="1100" lang="en-US">
                <a:solidFill>
                  <a:srgbClr val="CFCFCF"/>
                </a:solidFill>
                <a:latin typeface="Calibri" pitchFamily="34" charset="0"/>
                <a:ea typeface="Calibri" pitchFamily="34" charset="-122"/>
                <a:cs typeface="Calibri" pitchFamily="34" charset="-120"/>
              </a:rPr>
              <a:t> = subset of S where attribute A = v
</a:t>
            </a:r>
            <a:r>
              <a:rPr dirty="0" sz="1100" lang="en-US">
                <a:solidFill>
                  <a:srgbClr val="CFCFCF"/>
                </a:solidFill>
                <a:latin typeface="Calibri" pitchFamily="34" charset="0"/>
                <a:ea typeface="Calibri" pitchFamily="34" charset="-122"/>
                <a:cs typeface="Calibri" pitchFamily="34" charset="-120"/>
              </a:rPr>
              <a:t>Pick the attribute with the highest Gain at each node</a:t>
            </a:r>
            <a:endParaRPr dirty="0" sz="1100" lang="en-US"/>
          </a:p>
        </p:txBody>
      </p:sp>
      <p:sp>
        <p:nvSpPr>
          <p:cNvPr id="1048733" name="Shape 10"/>
          <p:cNvSpPr/>
          <p:nvPr/>
        </p:nvSpPr>
        <p:spPr>
          <a:xfrm>
            <a:off x="548640" y="4069080"/>
            <a:ext cx="11064240" cy="1051560"/>
          </a:xfrm>
          <a:prstGeom prst="roundRect">
            <a:avLst>
              <a:gd name="adj" fmla="val 6957"/>
            </a:avLst>
          </a:prstGeom>
          <a:solidFill>
            <a:srgbClr val="FDF3E7"/>
          </a:solidFill>
        </p:spPr>
      </p:sp>
      <p:sp>
        <p:nvSpPr>
          <p:cNvPr id="1048734" name="Text 11"/>
          <p:cNvSpPr/>
          <p:nvPr/>
        </p:nvSpPr>
        <p:spPr>
          <a:xfrm>
            <a:off x="777240" y="4187952"/>
            <a:ext cx="3657600" cy="320040"/>
          </a:xfrm>
          <a:prstGeom prst="rect"/>
          <a:noFill/>
        </p:spPr>
        <p:txBody>
          <a:bodyPr anchor="ctr" rtlCol="0" wrap="square"/>
          <a:p>
            <a:pPr indent="0" marL="0">
              <a:buNone/>
            </a:pPr>
            <a:r>
              <a:rPr b="1" dirty="0" sz="1400" lang="en-US">
                <a:solidFill>
                  <a:srgbClr val="B45309"/>
                </a:solidFill>
                <a:latin typeface="Calibri" pitchFamily="34" charset="0"/>
                <a:ea typeface="Calibri" pitchFamily="34" charset="-122"/>
                <a:cs typeface="Calibri" pitchFamily="34" charset="-120"/>
              </a:rPr>
              <a:t>Tree Pruning</a:t>
            </a:r>
            <a:endParaRPr dirty="0" sz="1400" lang="en-US"/>
          </a:p>
        </p:txBody>
      </p:sp>
      <p:sp>
        <p:nvSpPr>
          <p:cNvPr id="1048735" name="Text 12"/>
          <p:cNvSpPr/>
          <p:nvPr/>
        </p:nvSpPr>
        <p:spPr>
          <a:xfrm>
            <a:off x="777240" y="4480560"/>
            <a:ext cx="10607040" cy="594360"/>
          </a:xfrm>
          <a:prstGeom prst="rect"/>
          <a:noFill/>
        </p:spPr>
        <p:txBody>
          <a:bodyPr anchor="ctr" rtlCol="0" wrap="square"/>
          <a:p>
            <a:pPr indent="0" marL="0">
              <a:lnSpc>
                <a:spcPct val="125000"/>
              </a:lnSpc>
              <a:buNone/>
            </a:pPr>
            <a:r>
              <a:rPr dirty="0" sz="1150" lang="en-US">
                <a:solidFill>
                  <a:srgbClr val="1A1A1A"/>
                </a:solidFill>
                <a:latin typeface="Calibri" pitchFamily="34" charset="0"/>
                <a:ea typeface="Calibri" pitchFamily="34" charset="-122"/>
                <a:cs typeface="Calibri" pitchFamily="34" charset="-120"/>
              </a:rPr>
              <a:t>Removes subtrees/branches that provide little predictive power, replacing them with a leaf. Pre-pruning stops growth early (e.g., via a size/gain threshold); post-pruning grows the full tree then trims using a validation set. Both combat overfitting to noise in training data.</a:t>
            </a:r>
            <a:endParaRPr dirty="0" sz="1150" lang="en-US"/>
          </a:p>
        </p:txBody>
      </p:sp>
      <p:sp>
        <p:nvSpPr>
          <p:cNvPr id="1048736" name="Shape 13"/>
          <p:cNvSpPr/>
          <p:nvPr/>
        </p:nvSpPr>
        <p:spPr>
          <a:xfrm>
            <a:off x="548640" y="5257800"/>
            <a:ext cx="5440680" cy="1234440"/>
          </a:xfrm>
          <a:prstGeom prst="roundRect">
            <a:avLst>
              <a:gd name="adj" fmla="val 5926"/>
            </a:avLst>
          </a:prstGeom>
          <a:solidFill>
            <a:srgbClr val="E6F4F2"/>
          </a:solidFill>
        </p:spPr>
      </p:sp>
      <p:sp>
        <p:nvSpPr>
          <p:cNvPr id="1048737" name="Text 14"/>
          <p:cNvSpPr/>
          <p:nvPr/>
        </p:nvSpPr>
        <p:spPr>
          <a:xfrm>
            <a:off x="777240" y="5349240"/>
            <a:ext cx="4572000" cy="274320"/>
          </a:xfrm>
          <a:prstGeom prst="rect"/>
          <a:noFill/>
        </p:spPr>
        <p:txBody>
          <a:bodyPr anchor="ctr" rtlCol="0" wrap="square"/>
          <a:p>
            <a:pPr indent="0" marL="0">
              <a:buNone/>
            </a:pPr>
            <a:r>
              <a:rPr b="1" dirty="0" sz="1250" lang="en-US">
                <a:solidFill>
                  <a:srgbClr val="0F766E"/>
                </a:solidFill>
                <a:latin typeface="Calibri" pitchFamily="34" charset="0"/>
                <a:ea typeface="Calibri" pitchFamily="34" charset="-122"/>
                <a:cs typeface="Calibri" pitchFamily="34" charset="-120"/>
              </a:rPr>
              <a:t>✓ Advantages</a:t>
            </a:r>
            <a:endParaRPr dirty="0" sz="1250" lang="en-US"/>
          </a:p>
        </p:txBody>
      </p:sp>
      <p:sp>
        <p:nvSpPr>
          <p:cNvPr id="1048738" name="Text 15"/>
          <p:cNvSpPr/>
          <p:nvPr/>
        </p:nvSpPr>
        <p:spPr>
          <a:xfrm>
            <a:off x="777240" y="5623560"/>
            <a:ext cx="4937760" cy="777240"/>
          </a:xfrm>
          <a:prstGeom prst="rect"/>
          <a:noFill/>
        </p:spPr>
        <p:txBody>
          <a:bodyPr anchor="ctr" rtlCol="0" wrap="square"/>
          <a:p>
            <a:pPr indent="0" marL="0">
              <a:lnSpc>
                <a:spcPct val="120000"/>
              </a:lnSpc>
              <a:buNone/>
            </a:pPr>
            <a:r>
              <a:rPr dirty="0" sz="1050" lang="en-US">
                <a:solidFill>
                  <a:srgbClr val="1A1A1A"/>
                </a:solidFill>
                <a:latin typeface="Calibri" pitchFamily="34" charset="0"/>
                <a:ea typeface="Calibri" pitchFamily="34" charset="-122"/>
                <a:cs typeface="Calibri" pitchFamily="34" charset="-120"/>
              </a:rPr>
              <a:t>Interpretable &amp; human-readable · handles categorical + numeric data · no feature scaling needed · fast inference</a:t>
            </a:r>
            <a:endParaRPr dirty="0" sz="1050" lang="en-US"/>
          </a:p>
        </p:txBody>
      </p:sp>
      <p:sp>
        <p:nvSpPr>
          <p:cNvPr id="1048739" name="Shape 16"/>
          <p:cNvSpPr/>
          <p:nvPr/>
        </p:nvSpPr>
        <p:spPr>
          <a:xfrm>
            <a:off x="6172200" y="5257800"/>
            <a:ext cx="5440680" cy="1234440"/>
          </a:xfrm>
          <a:prstGeom prst="roundRect">
            <a:avLst>
              <a:gd name="adj" fmla="val 5926"/>
            </a:avLst>
          </a:prstGeom>
          <a:solidFill>
            <a:srgbClr val="FDECEC"/>
          </a:solidFill>
        </p:spPr>
      </p:sp>
      <p:sp>
        <p:nvSpPr>
          <p:cNvPr id="1048740" name="Text 17"/>
          <p:cNvSpPr/>
          <p:nvPr/>
        </p:nvSpPr>
        <p:spPr>
          <a:xfrm>
            <a:off x="6400800" y="5349240"/>
            <a:ext cx="4572000" cy="274320"/>
          </a:xfrm>
          <a:prstGeom prst="rect"/>
          <a:noFill/>
        </p:spPr>
        <p:txBody>
          <a:bodyPr anchor="ctr" rtlCol="0" wrap="square"/>
          <a:p>
            <a:pPr indent="0" marL="0">
              <a:buNone/>
            </a:pPr>
            <a:r>
              <a:rPr b="1" dirty="0" sz="1250" lang="en-US">
                <a:solidFill>
                  <a:srgbClr val="B91C1C"/>
                </a:solidFill>
                <a:latin typeface="Calibri" pitchFamily="34" charset="0"/>
                <a:ea typeface="Calibri" pitchFamily="34" charset="-122"/>
                <a:cs typeface="Calibri" pitchFamily="34" charset="-120"/>
              </a:rPr>
              <a:t>✗ Limitations</a:t>
            </a:r>
            <a:endParaRPr dirty="0" sz="1250" lang="en-US"/>
          </a:p>
        </p:txBody>
      </p:sp>
      <p:sp>
        <p:nvSpPr>
          <p:cNvPr id="1048741" name="Text 18"/>
          <p:cNvSpPr/>
          <p:nvPr/>
        </p:nvSpPr>
        <p:spPr>
          <a:xfrm>
            <a:off x="6400800" y="5623560"/>
            <a:ext cx="4937760" cy="777240"/>
          </a:xfrm>
          <a:prstGeom prst="rect"/>
          <a:noFill/>
        </p:spPr>
        <p:txBody>
          <a:bodyPr anchor="ctr" rtlCol="0" wrap="square"/>
          <a:p>
            <a:pPr indent="0" marL="0">
              <a:lnSpc>
                <a:spcPct val="120000"/>
              </a:lnSpc>
              <a:buNone/>
            </a:pPr>
            <a:r>
              <a:rPr dirty="0" sz="1050" lang="en-US">
                <a:solidFill>
                  <a:srgbClr val="1A1A1A"/>
                </a:solidFill>
                <a:latin typeface="Calibri" pitchFamily="34" charset="0"/>
                <a:ea typeface="Calibri" pitchFamily="34" charset="-122"/>
                <a:cs typeface="Calibri" pitchFamily="34" charset="-120"/>
              </a:rPr>
              <a:t>Prone to overfitting without pruning · unstable to small data changes · biased toward attributes with many values · can create overly complex trees</a:t>
            </a:r>
            <a:endParaRPr dirty="0" sz="1050" lang="en-US"/>
          </a:p>
        </p:txBody>
      </p:sp>
      <p:sp>
        <p:nvSpPr>
          <p:cNvPr id="1048742" name="Text 19"/>
          <p:cNvSpPr/>
          <p:nvPr/>
        </p:nvSpPr>
        <p:spPr>
          <a:xfrm>
            <a:off x="457200" y="6537960"/>
            <a:ext cx="5486400" cy="274320"/>
          </a:xfrm>
          <a:prstGeom prst="rect"/>
          <a:noFill/>
        </p:spPr>
        <p:txBody>
          <a:bodyPr anchor="ctr" rtlCol="0" wrap="square"/>
          <a:p>
            <a:pPr indent="0" marL="0">
              <a:buNone/>
            </a:pPr>
            <a:r>
              <a:rPr dirty="0" sz="1000" lang="en-US">
                <a:solidFill>
                  <a:srgbClr val="999999"/>
                </a:solidFill>
                <a:latin typeface="Calibri" pitchFamily="34" charset="0"/>
                <a:ea typeface="Calibri" pitchFamily="34" charset="-122"/>
                <a:cs typeface="Calibri" pitchFamily="34" charset="-120"/>
              </a:rPr>
              <a:t>ITA 06 — Machine Learning  |  CO1</a:t>
            </a:r>
            <a:endParaRPr dirty="0" sz="1000" lang="en-US"/>
          </a:p>
        </p:txBody>
      </p:sp>
      <p:sp>
        <p:nvSpPr>
          <p:cNvPr id="1048743" name="Text 20"/>
          <p:cNvSpPr/>
          <p:nvPr/>
        </p:nvSpPr>
        <p:spPr>
          <a:xfrm>
            <a:off x="11521440" y="6537960"/>
            <a:ext cx="457200" cy="274320"/>
          </a:xfrm>
          <a:prstGeom prst="rect"/>
          <a:noFill/>
        </p:spPr>
        <p:txBody>
          <a:bodyPr anchor="ctr" rtlCol="0" wrap="square"/>
          <a:p>
            <a:pPr algn="r" indent="0" marL="0">
              <a:buNone/>
            </a:pPr>
            <a:r>
              <a:rPr dirty="0" sz="1000" lang="en-US">
                <a:solidFill>
                  <a:srgbClr val="999999"/>
                </a:solidFill>
                <a:latin typeface="Calibri" pitchFamily="34" charset="0"/>
                <a:ea typeface="Calibri" pitchFamily="34" charset="-122"/>
                <a:cs typeface="Calibri" pitchFamily="34" charset="-120"/>
              </a:rPr>
              <a:t>8</a:t>
            </a:r>
            <a:endParaRPr dirty="0" sz="10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38" name=""/>
        <p:cNvGrpSpPr/>
        <p:nvPr/>
      </p:nvGrpSpPr>
      <p:grpSpPr>
        <a:xfrm>
          <a:off x="0" y="0"/>
          <a:ext cx="0" cy="0"/>
          <a:chOff x="0" y="0"/>
          <a:chExt cx="0" cy="0"/>
        </a:xfrm>
      </p:grpSpPr>
      <p:sp>
        <p:nvSpPr>
          <p:cNvPr id="1048747" name="Shape 0"/>
          <p:cNvSpPr/>
          <p:nvPr/>
        </p:nvSpPr>
        <p:spPr>
          <a:xfrm>
            <a:off x="0" y="0"/>
            <a:ext cx="12188952" cy="6858000"/>
          </a:xfrm>
          <a:prstGeom prst="rect"/>
          <a:solidFill>
            <a:srgbClr val="1B2A4A"/>
          </a:solidFill>
        </p:spPr>
      </p:sp>
      <p:sp>
        <p:nvSpPr>
          <p:cNvPr id="1048748" name="Shape 1"/>
          <p:cNvSpPr/>
          <p:nvPr/>
        </p:nvSpPr>
        <p:spPr>
          <a:xfrm>
            <a:off x="-1645920" y="-1645920"/>
            <a:ext cx="4572000" cy="4572000"/>
          </a:xfrm>
          <a:prstGeom prst="ellipse"/>
          <a:solidFill>
            <a:srgbClr val="24365E"/>
          </a:solidFill>
        </p:spPr>
      </p:sp>
      <p:sp>
        <p:nvSpPr>
          <p:cNvPr id="1048749" name="Text 2"/>
          <p:cNvSpPr/>
          <p:nvPr/>
        </p:nvSpPr>
        <p:spPr>
          <a:xfrm>
            <a:off x="731520" y="1005840"/>
            <a:ext cx="7315200" cy="548640"/>
          </a:xfrm>
          <a:prstGeom prst="rect"/>
          <a:noFill/>
        </p:spPr>
        <p:txBody>
          <a:bodyPr anchor="ctr" rtlCol="0" wrap="square"/>
          <a:p>
            <a:pPr indent="0" marL="0">
              <a:buNone/>
            </a:pPr>
            <a:r>
              <a:rPr b="1" dirty="0" sz="3000" lang="en-US">
                <a:solidFill>
                  <a:srgbClr val="FFFFFF"/>
                </a:solidFill>
                <a:latin typeface="Calibri" pitchFamily="34" charset="0"/>
                <a:ea typeface="Calibri" pitchFamily="34" charset="-122"/>
                <a:cs typeface="Calibri" pitchFamily="34" charset="-120"/>
              </a:rPr>
              <a:t>Summary</a:t>
            </a:r>
            <a:endParaRPr dirty="0" sz="3000" lang="en-US"/>
          </a:p>
        </p:txBody>
      </p:sp>
      <p:sp>
        <p:nvSpPr>
          <p:cNvPr id="1048750" name="Shape 3"/>
          <p:cNvSpPr/>
          <p:nvPr/>
        </p:nvSpPr>
        <p:spPr>
          <a:xfrm>
            <a:off x="731520" y="1828800"/>
            <a:ext cx="914400" cy="1097280"/>
          </a:xfrm>
          <a:prstGeom prst="roundRect">
            <a:avLst>
              <a:gd name="adj" fmla="val 8000"/>
            </a:avLst>
          </a:prstGeom>
          <a:solidFill>
            <a:srgbClr val="2E4270"/>
          </a:solidFill>
        </p:spPr>
      </p:sp>
      <p:sp>
        <p:nvSpPr>
          <p:cNvPr id="1048751" name="Text 4"/>
          <p:cNvSpPr/>
          <p:nvPr/>
        </p:nvSpPr>
        <p:spPr>
          <a:xfrm>
            <a:off x="731520" y="1828800"/>
            <a:ext cx="914400" cy="1097280"/>
          </a:xfrm>
          <a:prstGeom prst="rect"/>
          <a:noFill/>
        </p:spPr>
        <p:txBody>
          <a:bodyPr anchor="ctr" rtlCol="0" wrap="square"/>
          <a:p>
            <a:pPr algn="ctr" indent="0" marL="0">
              <a:buNone/>
            </a:pPr>
            <a:r>
              <a:rPr b="1" dirty="0" sz="1800" lang="en-US">
                <a:solidFill>
                  <a:srgbClr val="9FE8DE"/>
                </a:solidFill>
                <a:latin typeface="Calibri" pitchFamily="34" charset="0"/>
                <a:ea typeface="Calibri" pitchFamily="34" charset="-122"/>
                <a:cs typeface="Calibri" pitchFamily="34" charset="-120"/>
              </a:rPr>
              <a:t>Q7</a:t>
            </a:r>
            <a:endParaRPr dirty="0" sz="1800" lang="en-US"/>
          </a:p>
        </p:txBody>
      </p:sp>
      <p:sp>
        <p:nvSpPr>
          <p:cNvPr id="1048752" name="Text 5"/>
          <p:cNvSpPr/>
          <p:nvPr/>
        </p:nvSpPr>
        <p:spPr>
          <a:xfrm>
            <a:off x="1828800" y="1783080"/>
            <a:ext cx="4023360" cy="548640"/>
          </a:xfrm>
          <a:prstGeom prst="rect"/>
          <a:noFill/>
        </p:spPr>
        <p:txBody>
          <a:bodyPr anchor="ctr" rtlCol="0" wrap="square"/>
          <a:p>
            <a:pPr indent="0" marL="0">
              <a:buNone/>
            </a:pPr>
            <a:r>
              <a:rPr b="1" dirty="0" sz="1450" lang="en-US">
                <a:solidFill>
                  <a:srgbClr val="FFFFFF"/>
                </a:solidFill>
                <a:latin typeface="Calibri" pitchFamily="34" charset="0"/>
                <a:ea typeface="Calibri" pitchFamily="34" charset="-122"/>
                <a:cs typeface="Calibri" pitchFamily="34" charset="-120"/>
              </a:rPr>
              <a:t>Version Spaces / Candidate Elimination</a:t>
            </a:r>
            <a:endParaRPr dirty="0" sz="1450" lang="en-US"/>
          </a:p>
        </p:txBody>
      </p:sp>
      <p:sp>
        <p:nvSpPr>
          <p:cNvPr id="1048753" name="Text 6"/>
          <p:cNvSpPr/>
          <p:nvPr/>
        </p:nvSpPr>
        <p:spPr>
          <a:xfrm>
            <a:off x="1828800" y="2240280"/>
            <a:ext cx="9418320" cy="640080"/>
          </a:xfrm>
          <a:prstGeom prst="rect"/>
          <a:noFill/>
        </p:spPr>
        <p:txBody>
          <a:bodyPr anchor="ctr" rtlCol="0" wrap="square"/>
          <a:p>
            <a:pPr indent="0" marL="0">
              <a:lnSpc>
                <a:spcPct val="125000"/>
              </a:lnSpc>
              <a:buNone/>
            </a:pPr>
            <a:r>
              <a:rPr dirty="0" sz="1150" lang="en-US">
                <a:solidFill>
                  <a:srgbClr val="C7D4EA"/>
                </a:solidFill>
                <a:latin typeface="Calibri" pitchFamily="34" charset="0"/>
                <a:ea typeface="Calibri" pitchFamily="34" charset="-122"/>
                <a:cs typeface="Calibri" pitchFamily="34" charset="-120"/>
              </a:rPr>
              <a:t>S and G boundaries bracket every hypothesis consistent with data; converge to target when S = G.</a:t>
            </a:r>
            <a:endParaRPr dirty="0" sz="1150" lang="en-US"/>
          </a:p>
        </p:txBody>
      </p:sp>
      <p:sp>
        <p:nvSpPr>
          <p:cNvPr id="1048754" name="Shape 7"/>
          <p:cNvSpPr/>
          <p:nvPr/>
        </p:nvSpPr>
        <p:spPr>
          <a:xfrm>
            <a:off x="731520" y="3200400"/>
            <a:ext cx="914400" cy="1097280"/>
          </a:xfrm>
          <a:prstGeom prst="roundRect">
            <a:avLst>
              <a:gd name="adj" fmla="val 8000"/>
            </a:avLst>
          </a:prstGeom>
          <a:solidFill>
            <a:srgbClr val="2E4270"/>
          </a:solidFill>
        </p:spPr>
      </p:sp>
      <p:sp>
        <p:nvSpPr>
          <p:cNvPr id="1048755" name="Text 8"/>
          <p:cNvSpPr/>
          <p:nvPr/>
        </p:nvSpPr>
        <p:spPr>
          <a:xfrm>
            <a:off x="731520" y="3200400"/>
            <a:ext cx="914400" cy="1097280"/>
          </a:xfrm>
          <a:prstGeom prst="rect"/>
          <a:noFill/>
        </p:spPr>
        <p:txBody>
          <a:bodyPr anchor="ctr" rtlCol="0" wrap="square"/>
          <a:p>
            <a:pPr algn="ctr" indent="0" marL="0">
              <a:buNone/>
            </a:pPr>
            <a:r>
              <a:rPr b="1" dirty="0" sz="1800" lang="en-US">
                <a:solidFill>
                  <a:srgbClr val="9FE8DE"/>
                </a:solidFill>
                <a:latin typeface="Calibri" pitchFamily="34" charset="0"/>
                <a:ea typeface="Calibri" pitchFamily="34" charset="-122"/>
                <a:cs typeface="Calibri" pitchFamily="34" charset="-120"/>
              </a:rPr>
              <a:t>Q8</a:t>
            </a:r>
            <a:endParaRPr dirty="0" sz="1800" lang="en-US"/>
          </a:p>
        </p:txBody>
      </p:sp>
      <p:sp>
        <p:nvSpPr>
          <p:cNvPr id="1048756" name="Text 9"/>
          <p:cNvSpPr/>
          <p:nvPr/>
        </p:nvSpPr>
        <p:spPr>
          <a:xfrm>
            <a:off x="1828800" y="3154680"/>
            <a:ext cx="4023360" cy="548640"/>
          </a:xfrm>
          <a:prstGeom prst="rect"/>
          <a:noFill/>
        </p:spPr>
        <p:txBody>
          <a:bodyPr anchor="ctr" rtlCol="0" wrap="square"/>
          <a:p>
            <a:pPr indent="0" marL="0">
              <a:buNone/>
            </a:pPr>
            <a:r>
              <a:rPr b="1" dirty="0" sz="1450" lang="en-US">
                <a:solidFill>
                  <a:srgbClr val="FFFFFF"/>
                </a:solidFill>
                <a:latin typeface="Calibri" pitchFamily="34" charset="0"/>
                <a:ea typeface="Calibri" pitchFamily="34" charset="-122"/>
                <a:cs typeface="Calibri" pitchFamily="34" charset="-120"/>
              </a:rPr>
              <a:t>Inductive Bias</a:t>
            </a:r>
            <a:endParaRPr dirty="0" sz="1450" lang="en-US"/>
          </a:p>
        </p:txBody>
      </p:sp>
      <p:sp>
        <p:nvSpPr>
          <p:cNvPr id="1048757" name="Text 10"/>
          <p:cNvSpPr/>
          <p:nvPr/>
        </p:nvSpPr>
        <p:spPr>
          <a:xfrm>
            <a:off x="1828800" y="3611880"/>
            <a:ext cx="9418320" cy="640080"/>
          </a:xfrm>
          <a:prstGeom prst="rect"/>
          <a:noFill/>
        </p:spPr>
        <p:txBody>
          <a:bodyPr anchor="ctr" rtlCol="0" wrap="square"/>
          <a:p>
            <a:pPr indent="0" marL="0">
              <a:lnSpc>
                <a:spcPct val="125000"/>
              </a:lnSpc>
              <a:buNone/>
            </a:pPr>
            <a:r>
              <a:rPr dirty="0" sz="1150" lang="en-US">
                <a:solidFill>
                  <a:srgbClr val="C7D4EA"/>
                </a:solidFill>
                <a:latin typeface="Calibri" pitchFamily="34" charset="0"/>
                <a:ea typeface="Calibri" pitchFamily="34" charset="-122"/>
                <a:cs typeface="Calibri" pitchFamily="34" charset="-120"/>
              </a:rPr>
              <a:t>Restriction bias limits H; preference bias orders the search — both are what let a learner generalize at all.</a:t>
            </a:r>
            <a:endParaRPr dirty="0" sz="1150" lang="en-US"/>
          </a:p>
        </p:txBody>
      </p:sp>
      <p:sp>
        <p:nvSpPr>
          <p:cNvPr id="1048758" name="Shape 11"/>
          <p:cNvSpPr/>
          <p:nvPr/>
        </p:nvSpPr>
        <p:spPr>
          <a:xfrm>
            <a:off x="731520" y="4572000"/>
            <a:ext cx="914400" cy="1097280"/>
          </a:xfrm>
          <a:prstGeom prst="roundRect">
            <a:avLst>
              <a:gd name="adj" fmla="val 8000"/>
            </a:avLst>
          </a:prstGeom>
          <a:solidFill>
            <a:srgbClr val="2E4270"/>
          </a:solidFill>
        </p:spPr>
      </p:sp>
      <p:sp>
        <p:nvSpPr>
          <p:cNvPr id="1048759" name="Text 12"/>
          <p:cNvSpPr/>
          <p:nvPr/>
        </p:nvSpPr>
        <p:spPr>
          <a:xfrm>
            <a:off x="731520" y="4572000"/>
            <a:ext cx="914400" cy="1097280"/>
          </a:xfrm>
          <a:prstGeom prst="rect"/>
          <a:noFill/>
        </p:spPr>
        <p:txBody>
          <a:bodyPr anchor="ctr" rtlCol="0" wrap="square"/>
          <a:p>
            <a:pPr algn="ctr" indent="0" marL="0">
              <a:buNone/>
            </a:pPr>
            <a:r>
              <a:rPr b="1" dirty="0" sz="1800" lang="en-US">
                <a:solidFill>
                  <a:srgbClr val="9FE8DE"/>
                </a:solidFill>
                <a:latin typeface="Calibri" pitchFamily="34" charset="0"/>
                <a:ea typeface="Calibri" pitchFamily="34" charset="-122"/>
                <a:cs typeface="Calibri" pitchFamily="34" charset="-120"/>
              </a:rPr>
              <a:t>Q9</a:t>
            </a:r>
            <a:endParaRPr dirty="0" sz="1800" lang="en-US"/>
          </a:p>
        </p:txBody>
      </p:sp>
      <p:sp>
        <p:nvSpPr>
          <p:cNvPr id="1048760" name="Text 13"/>
          <p:cNvSpPr/>
          <p:nvPr/>
        </p:nvSpPr>
        <p:spPr>
          <a:xfrm>
            <a:off x="1828800" y="4526280"/>
            <a:ext cx="4023360" cy="548640"/>
          </a:xfrm>
          <a:prstGeom prst="rect"/>
          <a:noFill/>
        </p:spPr>
        <p:txBody>
          <a:bodyPr anchor="ctr" rtlCol="0" wrap="square"/>
          <a:p>
            <a:pPr indent="0" marL="0">
              <a:buNone/>
            </a:pPr>
            <a:r>
              <a:rPr b="1" dirty="0" sz="1450" lang="en-US">
                <a:solidFill>
                  <a:srgbClr val="FFFFFF"/>
                </a:solidFill>
                <a:latin typeface="Calibri" pitchFamily="34" charset="0"/>
                <a:ea typeface="Calibri" pitchFamily="34" charset="-122"/>
                <a:cs typeface="Calibri" pitchFamily="34" charset="-120"/>
              </a:rPr>
              <a:t>Decision Trees</a:t>
            </a:r>
            <a:endParaRPr dirty="0" sz="1450" lang="en-US"/>
          </a:p>
        </p:txBody>
      </p:sp>
      <p:sp>
        <p:nvSpPr>
          <p:cNvPr id="1048761" name="Text 14"/>
          <p:cNvSpPr/>
          <p:nvPr/>
        </p:nvSpPr>
        <p:spPr>
          <a:xfrm>
            <a:off x="1828800" y="4983480"/>
            <a:ext cx="9418320" cy="640080"/>
          </a:xfrm>
          <a:prstGeom prst="rect"/>
          <a:noFill/>
        </p:spPr>
        <p:txBody>
          <a:bodyPr anchor="ctr" rtlCol="0" wrap="square"/>
          <a:p>
            <a:pPr indent="0" marL="0">
              <a:lnSpc>
                <a:spcPct val="125000"/>
              </a:lnSpc>
              <a:buNone/>
            </a:pPr>
            <a:r>
              <a:rPr dirty="0" sz="1150" lang="en-US">
                <a:solidFill>
                  <a:srgbClr val="C7D4EA"/>
                </a:solidFill>
                <a:latin typeface="Calibri" pitchFamily="34" charset="0"/>
                <a:ea typeface="Calibri" pitchFamily="34" charset="-122"/>
                <a:cs typeface="Calibri" pitchFamily="34" charset="-120"/>
              </a:rPr>
              <a:t>Entropy measures impurity; Information Gain picks the best split; pruning controls overfitting.</a:t>
            </a:r>
            <a:endParaRPr dirty="0" sz="115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PptxGenJS</cp:lastModifiedBy>
  <dcterms:created xsi:type="dcterms:W3CDTF">2026-07-22T20:54:24Z</dcterms:created>
  <dcterms:modified xsi:type="dcterms:W3CDTF">2026-07-23T15:43:55Z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ab8f7523b6cc4ec1b513236ade822709_23</vt:lpwstr>
  </property>
</Properties>
</file>